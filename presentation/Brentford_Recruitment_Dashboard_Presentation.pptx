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51E7B8-90F7-4985-BEF3-A6C220DA9FC3}" v="4" dt="2026-06-18T14:49:50.8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2302" autoAdjust="0"/>
  </p:normalViewPr>
  <p:slideViewPr>
    <p:cSldViewPr snapToGrid="0" snapToObjects="1">
      <p:cViewPr>
        <p:scale>
          <a:sx n="110" d="100"/>
          <a:sy n="110" d="100"/>
        </p:scale>
        <p:origin x="992"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rd O’Brien" userId="e4da60408d7eaa5e" providerId="LiveId" clId="{6092B282-C470-43A0-9C22-E6B83EC89E8D}"/>
    <pc:docChg chg="undo custSel modSld">
      <pc:chgData name="Gerard O’Brien" userId="e4da60408d7eaa5e" providerId="LiveId" clId="{6092B282-C470-43A0-9C22-E6B83EC89E8D}" dt="2026-06-18T15:23:52.112" v="269" actId="1076"/>
      <pc:docMkLst>
        <pc:docMk/>
      </pc:docMkLst>
      <pc:sldChg chg="addSp delSp modSp mod">
        <pc:chgData name="Gerard O’Brien" userId="e4da60408d7eaa5e" providerId="LiveId" clId="{6092B282-C470-43A0-9C22-E6B83EC89E8D}" dt="2026-06-18T14:50:01.857" v="266" actId="1076"/>
        <pc:sldMkLst>
          <pc:docMk/>
          <pc:sldMk cId="0" sldId="256"/>
        </pc:sldMkLst>
        <pc:spChg chg="mod">
          <ac:chgData name="Gerard O’Brien" userId="e4da60408d7eaa5e" providerId="LiveId" clId="{6092B282-C470-43A0-9C22-E6B83EC89E8D}" dt="2026-06-18T14:49:04.476" v="262" actId="20577"/>
          <ac:spMkLst>
            <pc:docMk/>
            <pc:sldMk cId="0" sldId="256"/>
            <ac:spMk id="7" creationId="{00000000-0000-0000-0000-000000000000}"/>
          </ac:spMkLst>
        </pc:spChg>
        <pc:spChg chg="add del">
          <ac:chgData name="Gerard O’Brien" userId="e4da60408d7eaa5e" providerId="LiveId" clId="{6092B282-C470-43A0-9C22-E6B83EC89E8D}" dt="2026-06-18T09:51:06.212" v="240" actId="22"/>
          <ac:spMkLst>
            <pc:docMk/>
            <pc:sldMk cId="0" sldId="256"/>
            <ac:spMk id="10" creationId="{AEDD6F0B-632B-3B31-F1EC-96A5A62FDE46}"/>
          </ac:spMkLst>
        </pc:spChg>
        <pc:spChg chg="add mod">
          <ac:chgData name="Gerard O’Brien" userId="e4da60408d7eaa5e" providerId="LiveId" clId="{6092B282-C470-43A0-9C22-E6B83EC89E8D}" dt="2026-06-18T14:50:01.857" v="266" actId="1076"/>
          <ac:spMkLst>
            <pc:docMk/>
            <pc:sldMk cId="0" sldId="256"/>
            <ac:spMk id="13" creationId="{7A13D362-FB8D-171E-68B0-D2A8C69088CC}"/>
          </ac:spMkLst>
        </pc:spChg>
        <pc:picChg chg="add mod">
          <ac:chgData name="Gerard O’Brien" userId="e4da60408d7eaa5e" providerId="LiveId" clId="{6092B282-C470-43A0-9C22-E6B83EC89E8D}" dt="2026-06-18T09:51:31.131" v="250" actId="962"/>
          <ac:picMkLst>
            <pc:docMk/>
            <pc:sldMk cId="0" sldId="256"/>
            <ac:picMk id="12" creationId="{55E772E1-B014-7B2F-F410-98D1D4C92301}"/>
          </ac:picMkLst>
        </pc:picChg>
      </pc:sldChg>
      <pc:sldChg chg="modSp mod">
        <pc:chgData name="Gerard O’Brien" userId="e4da60408d7eaa5e" providerId="LiveId" clId="{6092B282-C470-43A0-9C22-E6B83EC89E8D}" dt="2026-06-18T09:33:03.023" v="3" actId="20577"/>
        <pc:sldMkLst>
          <pc:docMk/>
          <pc:sldMk cId="0" sldId="257"/>
        </pc:sldMkLst>
        <pc:spChg chg="mod">
          <ac:chgData name="Gerard O’Brien" userId="e4da60408d7eaa5e" providerId="LiveId" clId="{6092B282-C470-43A0-9C22-E6B83EC89E8D}" dt="2026-06-18T09:33:00.155" v="1" actId="20577"/>
          <ac:spMkLst>
            <pc:docMk/>
            <pc:sldMk cId="0" sldId="257"/>
            <ac:spMk id="5" creationId="{00000000-0000-0000-0000-000000000000}"/>
          </ac:spMkLst>
        </pc:spChg>
        <pc:spChg chg="mod">
          <ac:chgData name="Gerard O’Brien" userId="e4da60408d7eaa5e" providerId="LiveId" clId="{6092B282-C470-43A0-9C22-E6B83EC89E8D}" dt="2026-06-18T09:33:03.023" v="3" actId="20577"/>
          <ac:spMkLst>
            <pc:docMk/>
            <pc:sldMk cId="0" sldId="257"/>
            <ac:spMk id="6" creationId="{00000000-0000-0000-0000-000000000000}"/>
          </ac:spMkLst>
        </pc:spChg>
      </pc:sldChg>
      <pc:sldChg chg="modSp mod modNotesTx">
        <pc:chgData name="Gerard O’Brien" userId="e4da60408d7eaa5e" providerId="LiveId" clId="{6092B282-C470-43A0-9C22-E6B83EC89E8D}" dt="2026-06-18T09:33:49.054" v="19" actId="20577"/>
        <pc:sldMkLst>
          <pc:docMk/>
          <pc:sldMk cId="0" sldId="258"/>
        </pc:sldMkLst>
        <pc:spChg chg="mod">
          <ac:chgData name="Gerard O’Brien" userId="e4da60408d7eaa5e" providerId="LiveId" clId="{6092B282-C470-43A0-9C22-E6B83EC89E8D}" dt="2026-06-18T09:33:16.235" v="7" actId="20577"/>
          <ac:spMkLst>
            <pc:docMk/>
            <pc:sldMk cId="0" sldId="258"/>
            <ac:spMk id="18" creationId="{00000000-0000-0000-0000-000000000000}"/>
          </ac:spMkLst>
        </pc:spChg>
        <pc:spChg chg="mod">
          <ac:chgData name="Gerard O’Brien" userId="e4da60408d7eaa5e" providerId="LiveId" clId="{6092B282-C470-43A0-9C22-E6B83EC89E8D}" dt="2026-06-18T09:33:11.921" v="5" actId="20577"/>
          <ac:spMkLst>
            <pc:docMk/>
            <pc:sldMk cId="0" sldId="258"/>
            <ac:spMk id="23" creationId="{00000000-0000-0000-0000-000000000000}"/>
          </ac:spMkLst>
        </pc:spChg>
      </pc:sldChg>
      <pc:sldChg chg="delSp modSp mod modNotesTx">
        <pc:chgData name="Gerard O’Brien" userId="e4da60408d7eaa5e" providerId="LiveId" clId="{6092B282-C470-43A0-9C22-E6B83EC89E8D}" dt="2026-06-18T15:23:52.112" v="269" actId="1076"/>
        <pc:sldMkLst>
          <pc:docMk/>
          <pc:sldMk cId="0" sldId="259"/>
        </pc:sldMkLst>
        <pc:spChg chg="mod">
          <ac:chgData name="Gerard O’Brien" userId="e4da60408d7eaa5e" providerId="LiveId" clId="{6092B282-C470-43A0-9C22-E6B83EC89E8D}" dt="2026-06-18T09:34:08.161" v="21" actId="20577"/>
          <ac:spMkLst>
            <pc:docMk/>
            <pc:sldMk cId="0" sldId="259"/>
            <ac:spMk id="3" creationId="{00000000-0000-0000-0000-000000000000}"/>
          </ac:spMkLst>
        </pc:spChg>
        <pc:spChg chg="mod">
          <ac:chgData name="Gerard O’Brien" userId="e4da60408d7eaa5e" providerId="LiveId" clId="{6092B282-C470-43A0-9C22-E6B83EC89E8D}" dt="2026-06-18T15:23:52.112" v="269" actId="1076"/>
          <ac:spMkLst>
            <pc:docMk/>
            <pc:sldMk cId="0" sldId="259"/>
            <ac:spMk id="7" creationId="{00000000-0000-0000-0000-000000000000}"/>
          </ac:spMkLst>
        </pc:spChg>
        <pc:spChg chg="mod">
          <ac:chgData name="Gerard O’Brien" userId="e4da60408d7eaa5e" providerId="LiveId" clId="{6092B282-C470-43A0-9C22-E6B83EC89E8D}" dt="2026-06-18T15:23:52.112" v="269" actId="1076"/>
          <ac:spMkLst>
            <pc:docMk/>
            <pc:sldMk cId="0" sldId="259"/>
            <ac:spMk id="8" creationId="{00000000-0000-0000-0000-000000000000}"/>
          </ac:spMkLst>
        </pc:spChg>
        <pc:spChg chg="mod">
          <ac:chgData name="Gerard O’Brien" userId="e4da60408d7eaa5e" providerId="LiveId" clId="{6092B282-C470-43A0-9C22-E6B83EC89E8D}" dt="2026-06-18T15:23:52.112" v="269" actId="1076"/>
          <ac:spMkLst>
            <pc:docMk/>
            <pc:sldMk cId="0" sldId="259"/>
            <ac:spMk id="9" creationId="{00000000-0000-0000-0000-000000000000}"/>
          </ac:spMkLst>
        </pc:spChg>
        <pc:spChg chg="mod">
          <ac:chgData name="Gerard O’Brien" userId="e4da60408d7eaa5e" providerId="LiveId" clId="{6092B282-C470-43A0-9C22-E6B83EC89E8D}" dt="2026-06-18T15:23:52.112" v="269" actId="1076"/>
          <ac:spMkLst>
            <pc:docMk/>
            <pc:sldMk cId="0" sldId="259"/>
            <ac:spMk id="10" creationId="{00000000-0000-0000-0000-000000000000}"/>
          </ac:spMkLst>
        </pc:spChg>
        <pc:spChg chg="del">
          <ac:chgData name="Gerard O’Brien" userId="e4da60408d7eaa5e" providerId="LiveId" clId="{6092B282-C470-43A0-9C22-E6B83EC89E8D}" dt="2026-06-18T15:23:05.354" v="267" actId="478"/>
          <ac:spMkLst>
            <pc:docMk/>
            <pc:sldMk cId="0" sldId="259"/>
            <ac:spMk id="11" creationId="{00000000-0000-0000-0000-000000000000}"/>
          </ac:spMkLst>
        </pc:spChg>
        <pc:spChg chg="del mod">
          <ac:chgData name="Gerard O’Brien" userId="e4da60408d7eaa5e" providerId="LiveId" clId="{6092B282-C470-43A0-9C22-E6B83EC89E8D}" dt="2026-06-18T15:23:07.350" v="268" actId="478"/>
          <ac:spMkLst>
            <pc:docMk/>
            <pc:sldMk cId="0" sldId="259"/>
            <ac:spMk id="12" creationId="{00000000-0000-0000-0000-000000000000}"/>
          </ac:spMkLst>
        </pc:spChg>
      </pc:sldChg>
      <pc:sldChg chg="modSp mod">
        <pc:chgData name="Gerard O’Brien" userId="e4da60408d7eaa5e" providerId="LiveId" clId="{6092B282-C470-43A0-9C22-E6B83EC89E8D}" dt="2026-06-18T09:43:00.820" v="50" actId="20577"/>
        <pc:sldMkLst>
          <pc:docMk/>
          <pc:sldMk cId="0" sldId="261"/>
        </pc:sldMkLst>
        <pc:spChg chg="mod">
          <ac:chgData name="Gerard O’Brien" userId="e4da60408d7eaa5e" providerId="LiveId" clId="{6092B282-C470-43A0-9C22-E6B83EC89E8D}" dt="2026-06-18T09:43:00.820" v="50" actId="20577"/>
          <ac:spMkLst>
            <pc:docMk/>
            <pc:sldMk cId="0" sldId="261"/>
            <ac:spMk id="7" creationId="{00000000-0000-0000-0000-000000000000}"/>
          </ac:spMkLst>
        </pc:spChg>
      </pc:sldChg>
      <pc:sldChg chg="modNotesTx">
        <pc:chgData name="Gerard O’Brien" userId="e4da60408d7eaa5e" providerId="LiveId" clId="{6092B282-C470-43A0-9C22-E6B83EC89E8D}" dt="2026-06-18T09:44:17.860" v="71" actId="20577"/>
        <pc:sldMkLst>
          <pc:docMk/>
          <pc:sldMk cId="0" sldId="262"/>
        </pc:sldMkLst>
      </pc:sldChg>
      <pc:sldChg chg="modSp mod modNotesTx">
        <pc:chgData name="Gerard O’Brien" userId="e4da60408d7eaa5e" providerId="LiveId" clId="{6092B282-C470-43A0-9C22-E6B83EC89E8D}" dt="2026-06-18T09:45:42.278" v="162" actId="20577"/>
        <pc:sldMkLst>
          <pc:docMk/>
          <pc:sldMk cId="0" sldId="263"/>
        </pc:sldMkLst>
        <pc:spChg chg="mod">
          <ac:chgData name="Gerard O’Brien" userId="e4da60408d7eaa5e" providerId="LiveId" clId="{6092B282-C470-43A0-9C22-E6B83EC89E8D}" dt="2026-06-18T09:44:44.142" v="73" actId="20577"/>
          <ac:spMkLst>
            <pc:docMk/>
            <pc:sldMk cId="0" sldId="263"/>
            <ac:spMk id="9" creationId="{00000000-0000-0000-0000-000000000000}"/>
          </ac:spMkLst>
        </pc:spChg>
        <pc:spChg chg="mod">
          <ac:chgData name="Gerard O’Brien" userId="e4da60408d7eaa5e" providerId="LiveId" clId="{6092B282-C470-43A0-9C22-E6B83EC89E8D}" dt="2026-06-18T09:44:47.481" v="75" actId="20577"/>
          <ac:spMkLst>
            <pc:docMk/>
            <pc:sldMk cId="0" sldId="263"/>
            <ac:spMk id="10" creationId="{00000000-0000-0000-0000-000000000000}"/>
          </ac:spMkLst>
        </pc:spChg>
        <pc:spChg chg="mod">
          <ac:chgData name="Gerard O’Brien" userId="e4da60408d7eaa5e" providerId="LiveId" clId="{6092B282-C470-43A0-9C22-E6B83EC89E8D}" dt="2026-06-18T09:44:50.262" v="77" actId="20577"/>
          <ac:spMkLst>
            <pc:docMk/>
            <pc:sldMk cId="0" sldId="263"/>
            <ac:spMk id="11" creationId="{00000000-0000-0000-0000-000000000000}"/>
          </ac:spMkLst>
        </pc:spChg>
      </pc:sldChg>
      <pc:sldChg chg="addSp modSp mod">
        <pc:chgData name="Gerard O’Brien" userId="e4da60408d7eaa5e" providerId="LiveId" clId="{6092B282-C470-43A0-9C22-E6B83EC89E8D}" dt="2026-06-18T09:48:34.384" v="168" actId="1076"/>
        <pc:sldMkLst>
          <pc:docMk/>
          <pc:sldMk cId="0" sldId="264"/>
        </pc:sldMkLst>
        <pc:spChg chg="add mod">
          <ac:chgData name="Gerard O’Brien" userId="e4da60408d7eaa5e" providerId="LiveId" clId="{6092B282-C470-43A0-9C22-E6B83EC89E8D}" dt="2026-06-18T09:48:25.170" v="166" actId="14100"/>
          <ac:spMkLst>
            <pc:docMk/>
            <pc:sldMk cId="0" sldId="264"/>
            <ac:spMk id="14" creationId="{4BE9E11D-40AC-6E70-E7B1-0258B075AA1D}"/>
          </ac:spMkLst>
        </pc:spChg>
        <pc:spChg chg="add mod">
          <ac:chgData name="Gerard O’Brien" userId="e4da60408d7eaa5e" providerId="LiveId" clId="{6092B282-C470-43A0-9C22-E6B83EC89E8D}" dt="2026-06-18T09:48:34.384" v="168" actId="1076"/>
          <ac:spMkLst>
            <pc:docMk/>
            <pc:sldMk cId="0" sldId="264"/>
            <ac:spMk id="15" creationId="{4AD02596-797B-0629-FC05-C5ECC92088EF}"/>
          </ac:spMkLst>
        </pc:spChg>
      </pc:sldChg>
      <pc:sldChg chg="modNotesTx">
        <pc:chgData name="Gerard O’Brien" userId="e4da60408d7eaa5e" providerId="LiveId" clId="{6092B282-C470-43A0-9C22-E6B83EC89E8D}" dt="2026-06-18T09:49:47.066" v="233" actId="6549"/>
        <pc:sldMkLst>
          <pc:docMk/>
          <pc:sldMk cId="0" sldId="265"/>
        </pc:sldMkLst>
      </pc:sldChg>
      <pc:sldChg chg="modSp mod">
        <pc:chgData name="Gerard O’Brien" userId="e4da60408d7eaa5e" providerId="LiveId" clId="{6092B282-C470-43A0-9C22-E6B83EC89E8D}" dt="2026-06-18T09:50:13.587" v="237" actId="20577"/>
        <pc:sldMkLst>
          <pc:docMk/>
          <pc:sldMk cId="0" sldId="266"/>
        </pc:sldMkLst>
        <pc:spChg chg="mod">
          <ac:chgData name="Gerard O’Brien" userId="e4da60408d7eaa5e" providerId="LiveId" clId="{6092B282-C470-43A0-9C22-E6B83EC89E8D}" dt="2026-06-18T09:50:13.587" v="237" actId="20577"/>
          <ac:spMkLst>
            <pc:docMk/>
            <pc:sldMk cId="0" sldId="266"/>
            <ac:spMk id="6" creationId="{00000000-0000-0000-0000-000000000000}"/>
          </ac:spMkLst>
        </pc:spChg>
        <pc:spChg chg="mod">
          <ac:chgData name="Gerard O’Brien" userId="e4da60408d7eaa5e" providerId="LiveId" clId="{6092B282-C470-43A0-9C22-E6B83EC89E8D}" dt="2026-06-18T09:50:10.801" v="235" actId="20577"/>
          <ac:spMkLst>
            <pc:docMk/>
            <pc:sldMk cId="0" sldId="266"/>
            <ac:spMk id="1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0455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I'm Gerry O'Brien. This is the recruitment dashboard I built for Brentford. Mid-tier clubs like ours can't outspend the giants. With a fifteen-to-forty-million budget, you win by finding players who outperform their price tag. The hard part isn't spotting good players — it's spotting good value before the market does. That's the gap this fills.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runs on three sources. Transfermarkt for identity, age and market value — global. FBref for on-pitch performance — the Big Five leagues, 2024-25. And FIFA ratings for global reputation across three editions. After cleaning and matching, that’s almost 2000 players, five leagues, sixteen metrics. The key honesty point: performance is Big Five only, value is global — so the verified analysis lives in the Big Five, and I'm upfront about that.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a galaxy schema — two fact tables sharing six dimensions. One holds performance, one row per player per season, from FBref. The other holds FIFA ratings and value over time. They share player, club, competition, country and position. The payoff: I can slice performance and value through the same lens without duplicating data.</a:t>
            </a:r>
          </a:p>
          <a:p>
            <a:endParaRPr lang="en-US" dirty="0"/>
          </a:p>
          <a:p>
            <a:r>
              <a:rPr lang="en-GB" sz="1200" b="1" i="0" kern="1200" dirty="0">
                <a:solidFill>
                  <a:schemeClr val="tx1"/>
                </a:solidFill>
                <a:effectLst/>
                <a:latin typeface="+mn-lt"/>
                <a:ea typeface="+mn-ea"/>
                <a:cs typeface="+mn-cs"/>
              </a:rPr>
              <a:t>Why a Galaxy Schema and not a Star Schema?</a:t>
            </a:r>
          </a:p>
          <a:p>
            <a:r>
              <a:rPr lang="en-GB" sz="1200" b="0" i="0" kern="1200" dirty="0">
                <a:solidFill>
                  <a:schemeClr val="tx1"/>
                </a:solidFill>
                <a:effectLst/>
                <a:latin typeface="+mn-lt"/>
                <a:ea typeface="+mn-ea"/>
                <a:cs typeface="+mn-cs"/>
              </a:rPr>
              <a:t>We have two fact tables because the data comes from two completely different sources measuring different things. </a:t>
            </a:r>
            <a:r>
              <a:rPr lang="en-GB" sz="1200" b="0" i="0" kern="1200" dirty="0" err="1">
                <a:solidFill>
                  <a:schemeClr val="tx1"/>
                </a:solidFill>
                <a:effectLst/>
                <a:latin typeface="+mn-lt"/>
                <a:ea typeface="+mn-ea"/>
                <a:cs typeface="+mn-cs"/>
              </a:rPr>
              <a:t>FBref</a:t>
            </a:r>
            <a:r>
              <a:rPr lang="en-GB" sz="1200" b="0" i="0" kern="1200" dirty="0">
                <a:solidFill>
                  <a:schemeClr val="tx1"/>
                </a:solidFill>
                <a:effectLst/>
                <a:latin typeface="+mn-lt"/>
                <a:ea typeface="+mn-ea"/>
                <a:cs typeface="+mn-cs"/>
              </a:rPr>
              <a:t> measures how players performed on the pitch in 2024-25. FIFA measures how players were rated across three game versions. They cannot be combined into one table because they have different rows, different columns, and cover different sets of players. A galaxy schema is the standard approach when two fact tables share the same dimensions.</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Why is performance data Big 5 only?</a:t>
            </a:r>
          </a:p>
          <a:p>
            <a:r>
              <a:rPr lang="en-GB" sz="1200" b="0" i="0" kern="1200" dirty="0" err="1">
                <a:solidFill>
                  <a:schemeClr val="tx1"/>
                </a:solidFill>
                <a:effectLst/>
                <a:latin typeface="+mn-lt"/>
                <a:ea typeface="+mn-ea"/>
                <a:cs typeface="+mn-cs"/>
              </a:rPr>
              <a:t>FBref</a:t>
            </a:r>
            <a:r>
              <a:rPr lang="en-GB" sz="1200" b="0" i="0" kern="1200" dirty="0">
                <a:solidFill>
                  <a:schemeClr val="tx1"/>
                </a:solidFill>
                <a:effectLst/>
                <a:latin typeface="+mn-lt"/>
                <a:ea typeface="+mn-ea"/>
                <a:cs typeface="+mn-cs"/>
              </a:rPr>
              <a:t> only publishes detailed statistics for the top five European leagues. This was outside our control. We acknowledged it as a limitation and worked around it on Page 2 by using FIFA market values to show a broader global picture.</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Degenerate dimensions</a:t>
            </a:r>
          </a:p>
          <a:p>
            <a:r>
              <a:rPr lang="en-GB" sz="1200" b="0" i="0" kern="1200" dirty="0">
                <a:solidFill>
                  <a:schemeClr val="tx1"/>
                </a:solidFill>
                <a:effectLst/>
                <a:latin typeface="+mn-lt"/>
                <a:ea typeface="+mn-ea"/>
                <a:cs typeface="+mn-cs"/>
              </a:rPr>
              <a:t>Some fields like </a:t>
            </a:r>
            <a:r>
              <a:rPr lang="en-GB" sz="1200" b="0" i="0" kern="1200" dirty="0" err="1">
                <a:solidFill>
                  <a:schemeClr val="tx1"/>
                </a:solidFill>
                <a:effectLst/>
                <a:latin typeface="+mn-lt"/>
                <a:ea typeface="+mn-ea"/>
                <a:cs typeface="+mn-cs"/>
              </a:rPr>
              <a:t>position_bucket</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league_name</a:t>
            </a:r>
            <a:r>
              <a:rPr lang="en-GB" sz="1200" b="0" i="0" kern="1200" dirty="0">
                <a:solidFill>
                  <a:schemeClr val="tx1"/>
                </a:solidFill>
                <a:effectLst/>
                <a:latin typeface="+mn-lt"/>
                <a:ea typeface="+mn-ea"/>
                <a:cs typeface="+mn-cs"/>
              </a:rPr>
              <a:t> and </a:t>
            </a:r>
            <a:r>
              <a:rPr lang="en-GB" sz="1200" b="0" i="0" kern="1200" dirty="0" err="1">
                <a:solidFill>
                  <a:schemeClr val="tx1"/>
                </a:solidFill>
                <a:effectLst/>
                <a:latin typeface="+mn-lt"/>
                <a:ea typeface="+mn-ea"/>
                <a:cs typeface="+mn-cs"/>
              </a:rPr>
              <a:t>fifa_version</a:t>
            </a:r>
            <a:r>
              <a:rPr lang="en-GB" sz="1200" b="0" i="0" kern="1200" dirty="0">
                <a:solidFill>
                  <a:schemeClr val="tx1"/>
                </a:solidFill>
                <a:effectLst/>
                <a:latin typeface="+mn-lt"/>
                <a:ea typeface="+mn-ea"/>
                <a:cs typeface="+mn-cs"/>
              </a:rPr>
              <a:t> were stored directly in the fact table rather than in their own separate dimension table. This is because they are simple short values with no extra information attached to them. Creating a whole separate table just to store six position names would add complexity with no benefit.</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Player matching</a:t>
            </a:r>
          </a:p>
          <a:p>
            <a:r>
              <a:rPr lang="en-GB" sz="1200" b="0" i="0" kern="1200" dirty="0" err="1">
                <a:solidFill>
                  <a:schemeClr val="tx1"/>
                </a:solidFill>
                <a:effectLst/>
                <a:latin typeface="+mn-lt"/>
                <a:ea typeface="+mn-ea"/>
                <a:cs typeface="+mn-cs"/>
              </a:rPr>
              <a:t>FBref</a:t>
            </a:r>
            <a:r>
              <a:rPr lang="en-GB" sz="1200" b="0" i="0" kern="1200" dirty="0">
                <a:solidFill>
                  <a:schemeClr val="tx1"/>
                </a:solidFill>
                <a:effectLst/>
                <a:latin typeface="+mn-lt"/>
                <a:ea typeface="+mn-ea"/>
                <a:cs typeface="+mn-cs"/>
              </a:rPr>
              <a:t> and </a:t>
            </a:r>
            <a:r>
              <a:rPr lang="en-GB" sz="1200" b="0" i="0" kern="1200" dirty="0" err="1">
                <a:solidFill>
                  <a:schemeClr val="tx1"/>
                </a:solidFill>
                <a:effectLst/>
                <a:latin typeface="+mn-lt"/>
                <a:ea typeface="+mn-ea"/>
                <a:cs typeface="+mn-cs"/>
              </a:rPr>
              <a:t>Transfermarkt</a:t>
            </a:r>
            <a:r>
              <a:rPr lang="en-GB" sz="1200" b="0" i="0" kern="1200" dirty="0">
                <a:solidFill>
                  <a:schemeClr val="tx1"/>
                </a:solidFill>
                <a:effectLst/>
                <a:latin typeface="+mn-lt"/>
                <a:ea typeface="+mn-ea"/>
                <a:cs typeface="+mn-cs"/>
              </a:rPr>
              <a:t> use different player name formats so they could not be joined directly. We used fuzzy string matching to link them, requiring a similarity score of at least 90 out of 100. About 60 players (3.1%) could not be matched and were excluded from the market value analysis. This is documented as a known limitation.</a:t>
            </a:r>
          </a:p>
          <a:p>
            <a:endParaRPr lang="en-GB" sz="1200" b="1"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Market value in two places</a:t>
            </a:r>
          </a:p>
          <a:p>
            <a:r>
              <a:rPr lang="en-GB" sz="1200" b="0" i="0" kern="1200" dirty="0">
                <a:solidFill>
                  <a:schemeClr val="tx1"/>
                </a:solidFill>
                <a:effectLst/>
                <a:latin typeface="+mn-lt"/>
                <a:ea typeface="+mn-ea"/>
                <a:cs typeface="+mn-cs"/>
              </a:rPr>
              <a:t>There are two different market value columns and they mean different things. The </a:t>
            </a:r>
            <a:r>
              <a:rPr lang="en-GB" sz="1200" b="0" i="0" kern="1200" dirty="0" err="1">
                <a:solidFill>
                  <a:schemeClr val="tx1"/>
                </a:solidFill>
                <a:effectLst/>
                <a:latin typeface="+mn-lt"/>
                <a:ea typeface="+mn-ea"/>
                <a:cs typeface="+mn-cs"/>
              </a:rPr>
              <a:t>Transfermarkt</a:t>
            </a:r>
            <a:r>
              <a:rPr lang="en-GB" sz="1200" b="0" i="0" kern="1200" dirty="0">
                <a:solidFill>
                  <a:schemeClr val="tx1"/>
                </a:solidFill>
                <a:effectLst/>
                <a:latin typeface="+mn-lt"/>
                <a:ea typeface="+mn-ea"/>
                <a:cs typeface="+mn-cs"/>
              </a:rPr>
              <a:t> value is the current real-world valuation used on the scatter plot. The FIFA value is what the game estimated the player was worth in 2019, 2021 or 2023. Both are kept because they answer different questions.</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Slowly changing dimensions</a:t>
            </a:r>
          </a:p>
          <a:p>
            <a:r>
              <a:rPr lang="en-GB" sz="1200" b="0" i="0" kern="1200" dirty="0">
                <a:solidFill>
                  <a:schemeClr val="tx1"/>
                </a:solidFill>
                <a:effectLst/>
                <a:latin typeface="+mn-lt"/>
                <a:ea typeface="+mn-ea"/>
                <a:cs typeface="+mn-cs"/>
              </a:rPr>
              <a:t>We only store the current market value, not the full history of how it changed over time. Storing the full history would require a much more complex setup and the data source does not provide it cleanly. We partially capture historical values through the three FIFA versions.</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Null rates</a:t>
            </a:r>
          </a:p>
          <a:p>
            <a:r>
              <a:rPr lang="en-GB" sz="1200" b="0" i="0" kern="1200" dirty="0">
                <a:solidFill>
                  <a:schemeClr val="tx1"/>
                </a:solidFill>
                <a:effectLst/>
                <a:latin typeface="+mn-lt"/>
                <a:ea typeface="+mn-ea"/>
                <a:cs typeface="+mn-cs"/>
              </a:rPr>
              <a:t>There are three types of null values, each for a different reason. Some players have no nationality ID because their country is not in </a:t>
            </a:r>
            <a:r>
              <a:rPr lang="en-GB" sz="1200" b="0" i="0" kern="1200" dirty="0" err="1">
                <a:solidFill>
                  <a:schemeClr val="tx1"/>
                </a:solidFill>
                <a:effectLst/>
                <a:latin typeface="+mn-lt"/>
                <a:ea typeface="+mn-ea"/>
                <a:cs typeface="+mn-cs"/>
              </a:rPr>
              <a:t>Transfermarkt's</a:t>
            </a:r>
            <a:r>
              <a:rPr lang="en-GB" sz="1200" b="0" i="0" kern="1200" dirty="0">
                <a:solidFill>
                  <a:schemeClr val="tx1"/>
                </a:solidFill>
                <a:effectLst/>
                <a:latin typeface="+mn-lt"/>
                <a:ea typeface="+mn-ea"/>
                <a:cs typeface="+mn-cs"/>
              </a:rPr>
              <a:t> database. Some players have no player ID because their name could not be matched between </a:t>
            </a:r>
            <a:r>
              <a:rPr lang="en-GB" sz="1200" b="0" i="0" kern="1200" dirty="0" err="1">
                <a:solidFill>
                  <a:schemeClr val="tx1"/>
                </a:solidFill>
                <a:effectLst/>
                <a:latin typeface="+mn-lt"/>
                <a:ea typeface="+mn-ea"/>
                <a:cs typeface="+mn-cs"/>
              </a:rPr>
              <a:t>FBref</a:t>
            </a:r>
            <a:r>
              <a:rPr lang="en-GB" sz="1200" b="0" i="0" kern="1200" dirty="0">
                <a:solidFill>
                  <a:schemeClr val="tx1"/>
                </a:solidFill>
                <a:effectLst/>
                <a:latin typeface="+mn-lt"/>
                <a:ea typeface="+mn-ea"/>
                <a:cs typeface="+mn-cs"/>
              </a:rPr>
              <a:t> and </a:t>
            </a:r>
            <a:r>
              <a:rPr lang="en-GB" sz="1200" b="0" i="0" kern="1200" dirty="0" err="1">
                <a:solidFill>
                  <a:schemeClr val="tx1"/>
                </a:solidFill>
                <a:effectLst/>
                <a:latin typeface="+mn-lt"/>
                <a:ea typeface="+mn-ea"/>
                <a:cs typeface="+mn-cs"/>
              </a:rPr>
              <a:t>Transfermarkt</a:t>
            </a:r>
            <a:r>
              <a:rPr lang="en-GB" sz="1200" b="0" i="0" kern="1200" dirty="0">
                <a:solidFill>
                  <a:schemeClr val="tx1"/>
                </a:solidFill>
                <a:effectLst/>
                <a:latin typeface="+mn-lt"/>
                <a:ea typeface="+mn-ea"/>
                <a:cs typeface="+mn-cs"/>
              </a:rPr>
              <a:t>. Some players have no FIFA rating because they were too young or unknown to appear in the game. None of these gaps affect the main analysis.</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Pre-computing percentile ranks in Python</a:t>
            </a:r>
          </a:p>
          <a:p>
            <a:r>
              <a:rPr lang="en-GB" sz="1200" b="0" i="0" kern="1200" dirty="0">
                <a:solidFill>
                  <a:schemeClr val="tx1"/>
                </a:solidFill>
                <a:effectLst/>
                <a:latin typeface="+mn-lt"/>
                <a:ea typeface="+mn-ea"/>
                <a:cs typeface="+mn-cs"/>
              </a:rPr>
              <a:t>Tableau cannot rank a player against all players at their position while also allowing the dashboard to be filtered. If we tried to do it inside Tableau the rankings would change every time a filter was applied, which would be wrong. By computing the ranks in Python before loading into Tableau we guarantee they are always correct and consistent.</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Position bucket in multiple tables</a:t>
            </a:r>
          </a:p>
          <a:p>
            <a:r>
              <a:rPr lang="en-GB" sz="1200" b="0" i="0" kern="1200" dirty="0">
                <a:solidFill>
                  <a:schemeClr val="tx1"/>
                </a:solidFill>
                <a:effectLst/>
                <a:latin typeface="+mn-lt"/>
                <a:ea typeface="+mn-ea"/>
                <a:cs typeface="+mn-cs"/>
              </a:rPr>
              <a:t>The official position mapping lives in one dimension table. The copies in other tables are there purely to avoid slow queries in Tableau. This is a standard practice in dashboard design where speed matters more than perfect normalisation.</a:t>
            </a:r>
          </a:p>
          <a:p>
            <a:endParaRPr lang="en-GB" sz="1200" b="0"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Mid-season transfers</a:t>
            </a:r>
          </a:p>
          <a:p>
            <a:r>
              <a:rPr lang="en-GB" sz="1200" b="0" i="0" kern="1200" dirty="0">
                <a:solidFill>
                  <a:schemeClr val="tx1"/>
                </a:solidFill>
                <a:effectLst/>
                <a:latin typeface="+mn-lt"/>
                <a:ea typeface="+mn-ea"/>
                <a:cs typeface="+mn-cs"/>
              </a:rPr>
              <a:t>When a player moved clubs during the season they appeared on multiple rows in </a:t>
            </a:r>
            <a:r>
              <a:rPr lang="en-GB" sz="1200" b="0" i="0" kern="1200" dirty="0" err="1">
                <a:solidFill>
                  <a:schemeClr val="tx1"/>
                </a:solidFill>
                <a:effectLst/>
                <a:latin typeface="+mn-lt"/>
                <a:ea typeface="+mn-ea"/>
                <a:cs typeface="+mn-cs"/>
              </a:rPr>
              <a:t>FBref</a:t>
            </a:r>
            <a:r>
              <a:rPr lang="en-GB" sz="1200" b="0" i="0" kern="1200" dirty="0">
                <a:solidFill>
                  <a:schemeClr val="tx1"/>
                </a:solidFill>
                <a:effectLst/>
                <a:latin typeface="+mn-lt"/>
                <a:ea typeface="+mn-ea"/>
                <a:cs typeface="+mn-cs"/>
              </a:rPr>
              <a:t>. We added up all their stats across both clubs and divided by their total minutes to get correct per-90 values. Their primary club was set to whichever team they played the most minutes for.</a:t>
            </a:r>
          </a:p>
          <a:p>
            <a:endParaRPr lang="en-GB"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keys off one metric — the Performance Index. Four steps: bucket every player into one of six positions; score them on the five metrics that matter for that role — for a striker, expected goals, goals, assists and getting into dangerous areas; rank each against their own position; then average those ranks. Fifty is average, seventy-five is top quarter. It's deliberately simple, so I can explain it to a non-technical recruitment head in one breath.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use it. The coach wants two strikers: twenty-six or younger, no more than forty million for the pair, and both with real minutes behind them — at least a dozen games last season.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 I start? Instinct. I open the talent map and click Brazil — one of the darkest on the map, top-tier ratings, and its trend climbs across all three FIFA editions. High and rising. But the honest bit: this is a hunch, not proof, and it doesn't carry through — my performance data only covers the Big Five. The map points me somewhere; the proof currently comes from players already in those top 5 leagues.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can I afford quality? This plots a league's quality against its cost — above the line beats its price. The all-leagues view is broad but runs on rough FIFA estimates, so it's just a pointer. I trust the Big Five view since this uses accurate performance data from </a:t>
            </a:r>
            <a:r>
              <a:rPr lang="en-US" dirty="0" err="1"/>
              <a:t>fbref</a:t>
            </a:r>
            <a:r>
              <a:rPr lang="en-US" dirty="0"/>
              <a:t>, and La Liga jumps out — as good as the Premier League at half the average price, while the Premier League sits below the line. So I aim at La Liga.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proof — real FBref performance, Big Five only. Every dot's a player: price across the bottom on a log scale, performance up the side. I apply the brief and the cloud collapses to a handful of strikers. I click the standout — Ferrán Torres, index ninety-five, elite on all five metrics, and at thirty million he's miles above the line. And down in the corner, a quarter-million-euro striker still above average — Pablo Durán.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step — the shortlist side by side. The comparison reveals what the price can't: Ferrán is the complete forward, elite on goals and creation. The two budget options, Pablo and Sergio, are creators, not finishers — strong on assists and receptions, light on actual goals. So the recommendation writes itself: pair the elite finisher with the best-value creator — Ferrán and Pablo, thirty million all-in, under budget, profiles that complement. Sergio is the fallback with slightly poorer stats than Duran and a higher price tag.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that's the workflow — a hunch from the map, narrowed to a league I trust, down to a data-backed shortlist in minutes. It's honest about its edges: the proof holds for the Big Five only, and values are point-in-time. Connecting that worldwide map to the verified performance layer is exactly where this goes next.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the raw relational source tables behind the galaxy schema — FBref, FIFA and Transfermarkt — cleaned and joined by four Python scripts.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91D"/>
        </a:solidFill>
        <a:effectLst/>
      </p:bgPr>
    </p:bg>
    <p:spTree>
      <p:nvGrpSpPr>
        <p:cNvPr id="1" name=""/>
        <p:cNvGrpSpPr/>
        <p:nvPr/>
      </p:nvGrpSpPr>
      <p:grpSpPr>
        <a:xfrm>
          <a:off x="0" y="0"/>
          <a:ext cx="0" cy="0"/>
          <a:chOff x="0" y="0"/>
          <a:chExt cx="0" cy="0"/>
        </a:xfrm>
      </p:grpSpPr>
      <p:sp>
        <p:nvSpPr>
          <p:cNvPr id="2" name="Shape 0"/>
          <p:cNvSpPr/>
          <p:nvPr/>
        </p:nvSpPr>
        <p:spPr>
          <a:xfrm>
            <a:off x="7406640" y="3383280"/>
            <a:ext cx="3291840" cy="3291840"/>
          </a:xfrm>
          <a:prstGeom prst="ellipse">
            <a:avLst/>
          </a:prstGeom>
          <a:solidFill>
            <a:srgbClr val="C8102E">
              <a:alpha val="14000"/>
            </a:srgbClr>
          </a:solidFill>
          <a:ln/>
        </p:spPr>
        <p:txBody>
          <a:bodyPr/>
          <a:lstStyle/>
          <a:p>
            <a:endParaRPr lang="en-GB"/>
          </a:p>
        </p:txBody>
      </p:sp>
      <p:sp>
        <p:nvSpPr>
          <p:cNvPr id="3" name="Shape 1"/>
          <p:cNvSpPr/>
          <p:nvPr/>
        </p:nvSpPr>
        <p:spPr>
          <a:xfrm>
            <a:off x="8595360" y="-914400"/>
            <a:ext cx="2011680" cy="2011680"/>
          </a:xfrm>
          <a:prstGeom prst="ellipse">
            <a:avLst/>
          </a:prstGeom>
          <a:solidFill>
            <a:srgbClr val="C8102E">
              <a:alpha val="10000"/>
            </a:srgbClr>
          </a:solidFill>
          <a:ln/>
        </p:spPr>
        <p:txBody>
          <a:bodyPr/>
          <a:lstStyle/>
          <a:p>
            <a:endParaRPr lang="en-GB"/>
          </a:p>
        </p:txBody>
      </p:sp>
      <p:sp>
        <p:nvSpPr>
          <p:cNvPr id="4" name="Shape 2"/>
          <p:cNvSpPr/>
          <p:nvPr/>
        </p:nvSpPr>
        <p:spPr>
          <a:xfrm>
            <a:off x="777240" y="1417320"/>
            <a:ext cx="201168" cy="201168"/>
          </a:xfrm>
          <a:prstGeom prst="ellipse">
            <a:avLst/>
          </a:prstGeom>
          <a:solidFill>
            <a:srgbClr val="C8102E"/>
          </a:solidFill>
          <a:ln/>
        </p:spPr>
        <p:txBody>
          <a:bodyPr/>
          <a:lstStyle/>
          <a:p>
            <a:endParaRPr lang="en-GB"/>
          </a:p>
        </p:txBody>
      </p:sp>
      <p:sp>
        <p:nvSpPr>
          <p:cNvPr id="5" name="Text 3"/>
          <p:cNvSpPr/>
          <p:nvPr/>
        </p:nvSpPr>
        <p:spPr>
          <a:xfrm>
            <a:off x="1097280" y="1371600"/>
            <a:ext cx="7315200" cy="274320"/>
          </a:xfrm>
          <a:prstGeom prst="rect">
            <a:avLst/>
          </a:prstGeom>
          <a:noFill/>
          <a:ln/>
        </p:spPr>
        <p:txBody>
          <a:bodyPr wrap="square" lIns="0" tIns="0" rIns="0" bIns="0" rtlCol="0" anchor="ctr"/>
          <a:lstStyle/>
          <a:p>
            <a:pPr marL="0" indent="0">
              <a:buNone/>
            </a:pPr>
            <a:r>
              <a:rPr lang="en-US" sz="1100" b="1" kern="0" spc="200" dirty="0">
                <a:solidFill>
                  <a:srgbClr val="B9BEC4"/>
                </a:solidFill>
                <a:latin typeface="Calibri" pitchFamily="34" charset="0"/>
                <a:ea typeface="Calibri" pitchFamily="34" charset="-122"/>
                <a:cs typeface="Calibri" pitchFamily="34" charset="-120"/>
              </a:rPr>
              <a:t>FOOTBALL RECRUITMENT  ·  BUSINESS INTELLIGENCE</a:t>
            </a:r>
            <a:endParaRPr lang="en-US" sz="1100" dirty="0"/>
          </a:p>
        </p:txBody>
      </p:sp>
      <p:sp>
        <p:nvSpPr>
          <p:cNvPr id="6" name="Text 4"/>
          <p:cNvSpPr/>
          <p:nvPr/>
        </p:nvSpPr>
        <p:spPr>
          <a:xfrm>
            <a:off x="777240" y="1874520"/>
            <a:ext cx="7863840" cy="1554480"/>
          </a:xfrm>
          <a:prstGeom prst="rect">
            <a:avLst/>
          </a:prstGeom>
          <a:noFill/>
          <a:ln/>
        </p:spPr>
        <p:txBody>
          <a:bodyPr wrap="square" lIns="0" tIns="0" rIns="0" bIns="0" rtlCol="0" anchor="ctr"/>
          <a:lstStyle/>
          <a:p>
            <a:pPr marL="0" indent="0">
              <a:lnSpc>
                <a:spcPct val="100000"/>
              </a:lnSpc>
              <a:buNone/>
            </a:pPr>
            <a:r>
              <a:rPr lang="en-US" sz="4000" b="1" dirty="0">
                <a:solidFill>
                  <a:srgbClr val="C8102E"/>
                </a:solidFill>
                <a:latin typeface="Cambria" pitchFamily="34" charset="0"/>
                <a:ea typeface="Cambria" pitchFamily="34" charset="-122"/>
                <a:cs typeface="Cambria" pitchFamily="34" charset="-120"/>
              </a:rPr>
              <a:t>Brentford FC</a:t>
            </a:r>
            <a:endParaRPr lang="en-US" sz="4000" dirty="0"/>
          </a:p>
          <a:p>
            <a:pPr marL="0" indent="0">
              <a:lnSpc>
                <a:spcPct val="100000"/>
              </a:lnSpc>
              <a:buNone/>
            </a:pPr>
            <a:r>
              <a:rPr lang="en-US" sz="4000" b="1" dirty="0">
                <a:solidFill>
                  <a:srgbClr val="FFFFFF"/>
                </a:solidFill>
                <a:latin typeface="Cambria" pitchFamily="34" charset="0"/>
                <a:ea typeface="Cambria" pitchFamily="34" charset="-122"/>
                <a:cs typeface="Cambria" pitchFamily="34" charset="-120"/>
              </a:rPr>
              <a:t>Head of Recruitment Dashboard</a:t>
            </a:r>
            <a:endParaRPr lang="en-US" sz="4000" dirty="0"/>
          </a:p>
        </p:txBody>
      </p:sp>
      <p:sp>
        <p:nvSpPr>
          <p:cNvPr id="7" name="Text 5"/>
          <p:cNvSpPr/>
          <p:nvPr/>
        </p:nvSpPr>
        <p:spPr>
          <a:xfrm>
            <a:off x="777240" y="3429000"/>
            <a:ext cx="7680960" cy="365760"/>
          </a:xfrm>
          <a:prstGeom prst="rect">
            <a:avLst/>
          </a:prstGeom>
          <a:noFill/>
          <a:ln/>
        </p:spPr>
        <p:txBody>
          <a:bodyPr wrap="square" lIns="0" tIns="0" rIns="0" bIns="0" rtlCol="0" anchor="ctr"/>
          <a:lstStyle/>
          <a:p>
            <a:pPr marL="0" indent="0">
              <a:buNone/>
            </a:pPr>
            <a:r>
              <a:rPr lang="en-US" sz="1600" i="1" dirty="0">
                <a:solidFill>
                  <a:srgbClr val="C7CCD2"/>
                </a:solidFill>
                <a:latin typeface="Cambria" pitchFamily="34" charset="0"/>
                <a:ea typeface="Cambria" pitchFamily="34" charset="-122"/>
                <a:cs typeface="Cambria" pitchFamily="34" charset="-120"/>
              </a:rPr>
              <a:t>Finding players who perform above what their price suggests</a:t>
            </a:r>
            <a:endParaRPr lang="en-US" sz="1600" dirty="0"/>
          </a:p>
        </p:txBody>
      </p:sp>
      <p:sp>
        <p:nvSpPr>
          <p:cNvPr id="8" name="Text 6"/>
          <p:cNvSpPr/>
          <p:nvPr/>
        </p:nvSpPr>
        <p:spPr>
          <a:xfrm>
            <a:off x="777240" y="4343400"/>
            <a:ext cx="7315200" cy="320040"/>
          </a:xfrm>
          <a:prstGeom prst="rect">
            <a:avLst/>
          </a:prstGeom>
          <a:noFill/>
          <a:ln/>
        </p:spPr>
        <p:txBody>
          <a:bodyPr wrap="square" lIns="0" tIns="0" rIns="0" bIns="0" rtlCol="0" anchor="ctr"/>
          <a:lstStyle/>
          <a:p>
            <a:pPr marL="0" indent="0">
              <a:buNone/>
            </a:pPr>
            <a:r>
              <a:rPr lang="en-US" sz="1300" dirty="0">
                <a:solidFill>
                  <a:srgbClr val="9AA0A7"/>
                </a:solidFill>
                <a:latin typeface="Calibri" pitchFamily="34" charset="0"/>
                <a:ea typeface="Calibri" pitchFamily="34" charset="-122"/>
                <a:cs typeface="Calibri" pitchFamily="34" charset="-120"/>
              </a:rPr>
              <a:t>Gerry O'Brien   ·   18 June 2026</a:t>
            </a:r>
            <a:endParaRPr lang="en-US" sz="1300" dirty="0"/>
          </a:p>
        </p:txBody>
      </p:sp>
      <p:pic>
        <p:nvPicPr>
          <p:cNvPr id="12" name="Picture 11" descr="89&#10;&#10;AI-generated content may be incorrect.">
            <a:extLst>
              <a:ext uri="{FF2B5EF4-FFF2-40B4-BE49-F238E27FC236}">
                <a16:creationId xmlns:a16="http://schemas.microsoft.com/office/drawing/2014/main" id="{55E772E1-B014-7B2F-F410-98D1D4C92301}"/>
              </a:ext>
            </a:extLst>
          </p:cNvPr>
          <p:cNvPicPr>
            <a:picLocks noChangeAspect="1"/>
          </p:cNvPicPr>
          <p:nvPr/>
        </p:nvPicPr>
        <p:blipFill>
          <a:blip r:embed="rId3"/>
          <a:stretch>
            <a:fillRect/>
          </a:stretch>
        </p:blipFill>
        <p:spPr>
          <a:xfrm>
            <a:off x="6449104" y="910821"/>
            <a:ext cx="1145386" cy="1145386"/>
          </a:xfrm>
          <a:prstGeom prst="rect">
            <a:avLst/>
          </a:prstGeom>
        </p:spPr>
      </p:pic>
      <p:sp>
        <p:nvSpPr>
          <p:cNvPr id="13" name="Shape 0">
            <a:extLst>
              <a:ext uri="{FF2B5EF4-FFF2-40B4-BE49-F238E27FC236}">
                <a16:creationId xmlns:a16="http://schemas.microsoft.com/office/drawing/2014/main" id="{7A13D362-FB8D-171E-68B0-D2A8C69088CC}"/>
              </a:ext>
            </a:extLst>
          </p:cNvPr>
          <p:cNvSpPr/>
          <p:nvPr/>
        </p:nvSpPr>
        <p:spPr>
          <a:xfrm>
            <a:off x="-955150" y="-1508760"/>
            <a:ext cx="5760720" cy="5303520"/>
          </a:xfrm>
          <a:prstGeom prst="ellipse">
            <a:avLst/>
          </a:prstGeom>
          <a:solidFill>
            <a:srgbClr val="C8102E">
              <a:alpha val="14000"/>
            </a:srgbClr>
          </a:solidFill>
          <a:ln/>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ellipse">
            <a:avLst/>
          </a:prstGeom>
          <a:solidFill>
            <a:srgbClr val="C8102E"/>
          </a:solidFill>
          <a:ln/>
        </p:spPr>
        <p:txBody>
          <a:bodyPr/>
          <a:lstStyle/>
          <a:p>
            <a:endParaRPr lang="en-GB"/>
          </a:p>
        </p:txBody>
      </p:sp>
      <p:sp>
        <p:nvSpPr>
          <p:cNvPr id="3" name="Text 1"/>
          <p:cNvSpPr/>
          <p:nvPr/>
        </p:nvSpPr>
        <p:spPr>
          <a:xfrm>
            <a:off x="713232" y="274320"/>
            <a:ext cx="7955280" cy="502920"/>
          </a:xfrm>
          <a:prstGeom prst="rect">
            <a:avLst/>
          </a:prstGeom>
          <a:noFill/>
          <a:ln/>
        </p:spPr>
        <p:txBody>
          <a:bodyPr wrap="square" lIns="0" tIns="0" rIns="0" bIns="0" rtlCol="0" anchor="ctr"/>
          <a:lstStyle/>
          <a:p>
            <a:pPr marL="0" indent="0">
              <a:buNone/>
            </a:pPr>
            <a:r>
              <a:rPr lang="en-US" sz="2900" b="1" dirty="0">
                <a:solidFill>
                  <a:srgbClr val="23262B"/>
                </a:solidFill>
                <a:latin typeface="Cambria" pitchFamily="34" charset="0"/>
                <a:ea typeface="Cambria" pitchFamily="34" charset="-122"/>
                <a:cs typeface="Cambria" pitchFamily="34" charset="-120"/>
              </a:rPr>
              <a:t>The Problem</a:t>
            </a:r>
            <a:endParaRPr lang="en-US" sz="2900" dirty="0"/>
          </a:p>
        </p:txBody>
      </p:sp>
      <p:sp>
        <p:nvSpPr>
          <p:cNvPr id="4" name="Text 2"/>
          <p:cNvSpPr/>
          <p:nvPr/>
        </p:nvSpPr>
        <p:spPr>
          <a:xfrm>
            <a:off x="713232" y="749808"/>
            <a:ext cx="7315200" cy="201168"/>
          </a:xfrm>
          <a:prstGeom prst="rect">
            <a:avLst/>
          </a:prstGeom>
          <a:noFill/>
          <a:ln/>
        </p:spPr>
        <p:txBody>
          <a:bodyPr wrap="square" lIns="0" tIns="0" rIns="0" bIns="0" rtlCol="0" anchor="ctr"/>
          <a:lstStyle/>
          <a:p>
            <a:pPr marL="0" indent="0">
              <a:buNone/>
            </a:pPr>
            <a:r>
              <a:rPr lang="en-US" sz="950" b="1" kern="0" spc="200" dirty="0">
                <a:solidFill>
                  <a:srgbClr val="C8102E"/>
                </a:solidFill>
                <a:latin typeface="Calibri" pitchFamily="34" charset="0"/>
                <a:ea typeface="Calibri" pitchFamily="34" charset="-122"/>
                <a:cs typeface="Calibri" pitchFamily="34" charset="-120"/>
              </a:rPr>
              <a:t>INTRODUCTION</a:t>
            </a:r>
            <a:endParaRPr lang="en-US" sz="950" dirty="0"/>
          </a:p>
        </p:txBody>
      </p:sp>
      <p:sp>
        <p:nvSpPr>
          <p:cNvPr id="5" name="Text 3"/>
          <p:cNvSpPr/>
          <p:nvPr/>
        </p:nvSpPr>
        <p:spPr>
          <a:xfrm>
            <a:off x="713232" y="1115568"/>
            <a:ext cx="7955280" cy="457200"/>
          </a:xfrm>
          <a:prstGeom prst="rect">
            <a:avLst/>
          </a:prstGeom>
          <a:noFill/>
          <a:ln/>
        </p:spPr>
        <p:txBody>
          <a:bodyPr wrap="square" lIns="0" tIns="0" rIns="0" bIns="0" rtlCol="0" anchor="ctr"/>
          <a:lstStyle/>
          <a:p>
            <a:pPr marL="0" indent="0">
              <a:buNone/>
            </a:pPr>
            <a:r>
              <a:rPr lang="en-US" sz="2100" i="1" dirty="0">
                <a:solidFill>
                  <a:srgbClr val="23262B"/>
                </a:solidFill>
                <a:latin typeface="Cambria" pitchFamily="34" charset="0"/>
                <a:ea typeface="Cambria" pitchFamily="34" charset="-122"/>
                <a:cs typeface="Cambria" pitchFamily="34" charset="-120"/>
              </a:rPr>
              <a:t>Talent is easy to spot - value is hard.</a:t>
            </a:r>
            <a:endParaRPr lang="en-US" sz="2100" dirty="0"/>
          </a:p>
        </p:txBody>
      </p:sp>
      <p:sp>
        <p:nvSpPr>
          <p:cNvPr id="6" name="Text 4"/>
          <p:cNvSpPr/>
          <p:nvPr/>
        </p:nvSpPr>
        <p:spPr>
          <a:xfrm>
            <a:off x="713232" y="2148840"/>
            <a:ext cx="4023360" cy="219456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C8102E"/>
                </a:solidFill>
                <a:latin typeface="Calibri" pitchFamily="34" charset="0"/>
                <a:ea typeface="Calibri" pitchFamily="34" charset="-122"/>
                <a:cs typeface="Calibri" pitchFamily="34" charset="-120"/>
              </a:rPr>
              <a:t>Mid-tier clubs can't outspend the giants.</a:t>
            </a:r>
            <a:endParaRPr lang="en-US" sz="1450" dirty="0"/>
          </a:p>
          <a:p>
            <a:pPr marL="342900" indent="-342900">
              <a:spcAft>
                <a:spcPts val="1000"/>
              </a:spcAft>
              <a:buSzPct val="100000"/>
              <a:buChar char="•"/>
            </a:pPr>
            <a:r>
              <a:rPr lang="en-US" sz="1450" dirty="0">
                <a:solidFill>
                  <a:srgbClr val="C8102E"/>
                </a:solidFill>
                <a:latin typeface="Calibri" pitchFamily="34" charset="0"/>
                <a:ea typeface="Calibri" pitchFamily="34" charset="-122"/>
                <a:cs typeface="Calibri" pitchFamily="34" charset="-120"/>
              </a:rPr>
              <a:t>Budgets of €15–40M - Brentford, Atalanta level.</a:t>
            </a:r>
            <a:endParaRPr lang="en-US" sz="1450" dirty="0"/>
          </a:p>
          <a:p>
            <a:pPr marL="342900" indent="-342900">
              <a:buSzPct val="100000"/>
              <a:buChar char="•"/>
            </a:pPr>
            <a:r>
              <a:rPr lang="en-US" sz="1450" dirty="0">
                <a:solidFill>
                  <a:srgbClr val="C8102E"/>
                </a:solidFill>
                <a:latin typeface="Calibri" pitchFamily="34" charset="0"/>
                <a:ea typeface="Calibri" pitchFamily="34" charset="-122"/>
                <a:cs typeface="Calibri" pitchFamily="34" charset="-120"/>
              </a:rPr>
              <a:t>You win by finding value before the market prices it.</a:t>
            </a:r>
            <a:endParaRPr lang="en-US" sz="1450" dirty="0"/>
          </a:p>
        </p:txBody>
      </p:sp>
      <p:sp>
        <p:nvSpPr>
          <p:cNvPr id="7" name="Shape 5"/>
          <p:cNvSpPr/>
          <p:nvPr/>
        </p:nvSpPr>
        <p:spPr>
          <a:xfrm>
            <a:off x="5074920" y="2011680"/>
            <a:ext cx="3611880" cy="2286000"/>
          </a:xfrm>
          <a:prstGeom prst="roundRect">
            <a:avLst>
              <a:gd name="adj" fmla="val 3200"/>
            </a:avLst>
          </a:prstGeom>
          <a:solidFill>
            <a:srgbClr val="FBEAEC"/>
          </a:solidFill>
          <a:ln/>
          <a:effectLst>
            <a:outerShdw blurRad="88900" dist="38100" dir="5400000" algn="bl" rotWithShape="0">
              <a:srgbClr val="000000">
                <a:alpha val="12000"/>
              </a:srgbClr>
            </a:outerShdw>
          </a:effectLst>
        </p:spPr>
        <p:txBody>
          <a:bodyPr/>
          <a:lstStyle/>
          <a:p>
            <a:endParaRPr lang="en-GB"/>
          </a:p>
        </p:txBody>
      </p:sp>
      <p:sp>
        <p:nvSpPr>
          <p:cNvPr id="8" name="Text 6"/>
          <p:cNvSpPr/>
          <p:nvPr/>
        </p:nvSpPr>
        <p:spPr>
          <a:xfrm>
            <a:off x="5349240" y="2286000"/>
            <a:ext cx="3108960" cy="228600"/>
          </a:xfrm>
          <a:prstGeom prst="rect">
            <a:avLst/>
          </a:prstGeom>
          <a:noFill/>
          <a:ln/>
        </p:spPr>
        <p:txBody>
          <a:bodyPr wrap="square" lIns="0" tIns="0" rIns="0" bIns="0" rtlCol="0" anchor="ctr"/>
          <a:lstStyle/>
          <a:p>
            <a:pPr marL="0" indent="0">
              <a:buNone/>
            </a:pPr>
            <a:r>
              <a:rPr lang="en-US" sz="1000" b="1" kern="0" spc="150" dirty="0">
                <a:solidFill>
                  <a:srgbClr val="C8102E"/>
                </a:solidFill>
                <a:latin typeface="Calibri" pitchFamily="34" charset="0"/>
                <a:ea typeface="Calibri" pitchFamily="34" charset="-122"/>
                <a:cs typeface="Calibri" pitchFamily="34" charset="-120"/>
              </a:rPr>
              <a:t>THE CENTRAL QUESTION</a:t>
            </a:r>
            <a:endParaRPr lang="en-US" sz="1000" dirty="0"/>
          </a:p>
        </p:txBody>
      </p:sp>
      <p:sp>
        <p:nvSpPr>
          <p:cNvPr id="9" name="Text 7"/>
          <p:cNvSpPr/>
          <p:nvPr/>
        </p:nvSpPr>
        <p:spPr>
          <a:xfrm>
            <a:off x="5349240" y="2606040"/>
            <a:ext cx="3108960" cy="1463040"/>
          </a:xfrm>
          <a:prstGeom prst="rect">
            <a:avLst/>
          </a:prstGeom>
          <a:noFill/>
          <a:ln/>
        </p:spPr>
        <p:txBody>
          <a:bodyPr wrap="square" lIns="0" tIns="0" rIns="0" bIns="0" rtlCol="0" anchor="t"/>
          <a:lstStyle/>
          <a:p>
            <a:pPr marL="0" indent="0">
              <a:buNone/>
            </a:pPr>
            <a:r>
              <a:rPr lang="en-US" sz="2100" b="1" dirty="0">
                <a:solidFill>
                  <a:srgbClr val="23262B"/>
                </a:solidFill>
                <a:latin typeface="Cambria" pitchFamily="34" charset="0"/>
                <a:ea typeface="Cambria" pitchFamily="34" charset="-122"/>
                <a:cs typeface="Cambria" pitchFamily="34" charset="-120"/>
              </a:rPr>
              <a:t>Which players perform above what their market value suggests?</a:t>
            </a:r>
            <a:endParaRPr lang="en-US" sz="2100" dirty="0"/>
          </a:p>
        </p:txBody>
      </p:sp>
      <p:sp>
        <p:nvSpPr>
          <p:cNvPr id="10" name="Text 8"/>
          <p:cNvSpPr/>
          <p:nvPr/>
        </p:nvSpPr>
        <p:spPr>
          <a:xfrm>
            <a:off x="457200" y="4855464"/>
            <a:ext cx="5486400" cy="201168"/>
          </a:xfrm>
          <a:prstGeom prst="rect">
            <a:avLst/>
          </a:prstGeom>
          <a:noFill/>
          <a:ln/>
        </p:spPr>
        <p:txBody>
          <a:bodyPr wrap="square" lIns="0" tIns="0" rIns="0" bIns="0" rtlCol="0" anchor="ctr"/>
          <a:lstStyle/>
          <a:p>
            <a:pPr marL="0" indent="0">
              <a:buNone/>
            </a:pPr>
            <a:r>
              <a:rPr lang="en-US" sz="800" dirty="0">
                <a:solidFill>
                  <a:srgbClr val="6E767E"/>
                </a:solidFill>
                <a:latin typeface="Calibri" pitchFamily="34" charset="0"/>
                <a:ea typeface="Calibri" pitchFamily="34" charset="-122"/>
                <a:cs typeface="Calibri" pitchFamily="34" charset="-120"/>
              </a:rPr>
              <a:t>Brentford FC  ·  Head of Recruitment Dashboard</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ellipse">
            <a:avLst/>
          </a:prstGeom>
          <a:solidFill>
            <a:srgbClr val="C8102E"/>
          </a:solidFill>
          <a:ln/>
        </p:spPr>
        <p:txBody>
          <a:bodyPr/>
          <a:lstStyle/>
          <a:p>
            <a:endParaRPr lang="en-GB"/>
          </a:p>
        </p:txBody>
      </p:sp>
      <p:sp>
        <p:nvSpPr>
          <p:cNvPr id="3" name="Text 1"/>
          <p:cNvSpPr/>
          <p:nvPr/>
        </p:nvSpPr>
        <p:spPr>
          <a:xfrm>
            <a:off x="713232" y="274320"/>
            <a:ext cx="7955280" cy="502920"/>
          </a:xfrm>
          <a:prstGeom prst="rect">
            <a:avLst/>
          </a:prstGeom>
          <a:noFill/>
          <a:ln/>
        </p:spPr>
        <p:txBody>
          <a:bodyPr wrap="square" lIns="0" tIns="0" rIns="0" bIns="0" rtlCol="0" anchor="ctr"/>
          <a:lstStyle/>
          <a:p>
            <a:pPr marL="0" indent="0">
              <a:buNone/>
            </a:pPr>
            <a:r>
              <a:rPr lang="en-US" sz="2900" b="1" dirty="0">
                <a:solidFill>
                  <a:srgbClr val="23262B"/>
                </a:solidFill>
                <a:latin typeface="Cambria" pitchFamily="34" charset="0"/>
                <a:ea typeface="Cambria" pitchFamily="34" charset="-122"/>
                <a:cs typeface="Cambria" pitchFamily="34" charset="-120"/>
              </a:rPr>
              <a:t>Data Sources &amp; Scope</a:t>
            </a:r>
            <a:endParaRPr lang="en-US" sz="2900" dirty="0"/>
          </a:p>
        </p:txBody>
      </p:sp>
      <p:sp>
        <p:nvSpPr>
          <p:cNvPr id="4" name="Text 2"/>
          <p:cNvSpPr/>
          <p:nvPr/>
        </p:nvSpPr>
        <p:spPr>
          <a:xfrm>
            <a:off x="713232" y="749808"/>
            <a:ext cx="7315200" cy="201168"/>
          </a:xfrm>
          <a:prstGeom prst="rect">
            <a:avLst/>
          </a:prstGeom>
          <a:noFill/>
          <a:ln/>
        </p:spPr>
        <p:txBody>
          <a:bodyPr wrap="square" lIns="0" tIns="0" rIns="0" bIns="0" rtlCol="0" anchor="ctr"/>
          <a:lstStyle/>
          <a:p>
            <a:pPr marL="0" indent="0">
              <a:buNone/>
            </a:pPr>
            <a:r>
              <a:rPr lang="en-US" sz="950" b="1" kern="0" spc="200" dirty="0">
                <a:solidFill>
                  <a:srgbClr val="C8102E"/>
                </a:solidFill>
                <a:latin typeface="Calibri" pitchFamily="34" charset="0"/>
                <a:ea typeface="Calibri" pitchFamily="34" charset="-122"/>
                <a:cs typeface="Calibri" pitchFamily="34" charset="-120"/>
              </a:rPr>
              <a:t>INTRODUCTION</a:t>
            </a:r>
            <a:endParaRPr lang="en-US" sz="950" dirty="0"/>
          </a:p>
        </p:txBody>
      </p:sp>
      <p:sp>
        <p:nvSpPr>
          <p:cNvPr id="5" name="Text 3"/>
          <p:cNvSpPr/>
          <p:nvPr/>
        </p:nvSpPr>
        <p:spPr>
          <a:xfrm>
            <a:off x="713232" y="1078992"/>
            <a:ext cx="1920240" cy="502920"/>
          </a:xfrm>
          <a:prstGeom prst="rect">
            <a:avLst/>
          </a:prstGeom>
          <a:noFill/>
          <a:ln/>
        </p:spPr>
        <p:txBody>
          <a:bodyPr wrap="square" lIns="0" tIns="0" rIns="0" bIns="0" rtlCol="0" anchor="ctr"/>
          <a:lstStyle/>
          <a:p>
            <a:pPr marL="0" indent="0">
              <a:buNone/>
            </a:pPr>
            <a:r>
              <a:rPr lang="en-US" sz="3000" b="1" dirty="0">
                <a:solidFill>
                  <a:srgbClr val="C8102E"/>
                </a:solidFill>
                <a:latin typeface="Cambria" pitchFamily="34" charset="0"/>
                <a:ea typeface="Cambria" pitchFamily="34" charset="-122"/>
                <a:cs typeface="Cambria" pitchFamily="34" charset="-120"/>
              </a:rPr>
              <a:t>1,962</a:t>
            </a:r>
            <a:endParaRPr lang="en-US" sz="3000" dirty="0"/>
          </a:p>
        </p:txBody>
      </p:sp>
      <p:sp>
        <p:nvSpPr>
          <p:cNvPr id="6" name="Text 4"/>
          <p:cNvSpPr/>
          <p:nvPr/>
        </p:nvSpPr>
        <p:spPr>
          <a:xfrm>
            <a:off x="713232" y="1591056"/>
            <a:ext cx="1920240" cy="274320"/>
          </a:xfrm>
          <a:prstGeom prst="rect">
            <a:avLst/>
          </a:prstGeom>
          <a:noFill/>
          <a:ln/>
        </p:spPr>
        <p:txBody>
          <a:bodyPr wrap="square" lIns="0" tIns="0" rIns="0" bIns="0" rtlCol="0" anchor="ctr"/>
          <a:lstStyle/>
          <a:p>
            <a:pPr marL="0" indent="0">
              <a:buNone/>
            </a:pPr>
            <a:r>
              <a:rPr lang="en-US" sz="1100" dirty="0">
                <a:solidFill>
                  <a:srgbClr val="6E767E"/>
                </a:solidFill>
                <a:latin typeface="Calibri" pitchFamily="34" charset="0"/>
                <a:ea typeface="Calibri" pitchFamily="34" charset="-122"/>
                <a:cs typeface="Calibri" pitchFamily="34" charset="-120"/>
              </a:rPr>
              <a:t>players</a:t>
            </a:r>
            <a:endParaRPr lang="en-US" sz="1100" dirty="0"/>
          </a:p>
        </p:txBody>
      </p:sp>
      <p:sp>
        <p:nvSpPr>
          <p:cNvPr id="7" name="Text 5"/>
          <p:cNvSpPr/>
          <p:nvPr/>
        </p:nvSpPr>
        <p:spPr>
          <a:xfrm>
            <a:off x="2706624" y="1078992"/>
            <a:ext cx="1920240" cy="502920"/>
          </a:xfrm>
          <a:prstGeom prst="rect">
            <a:avLst/>
          </a:prstGeom>
          <a:noFill/>
          <a:ln/>
        </p:spPr>
        <p:txBody>
          <a:bodyPr wrap="square" lIns="0" tIns="0" rIns="0" bIns="0" rtlCol="0" anchor="ctr"/>
          <a:lstStyle/>
          <a:p>
            <a:pPr marL="0" indent="0">
              <a:buNone/>
            </a:pPr>
            <a:r>
              <a:rPr lang="en-US" sz="3000" b="1" dirty="0">
                <a:solidFill>
                  <a:srgbClr val="C8102E"/>
                </a:solidFill>
                <a:latin typeface="Cambria" pitchFamily="34" charset="0"/>
                <a:ea typeface="Cambria" pitchFamily="34" charset="-122"/>
                <a:cs typeface="Cambria" pitchFamily="34" charset="-120"/>
              </a:rPr>
              <a:t>5</a:t>
            </a:r>
            <a:endParaRPr lang="en-US" sz="3000" dirty="0"/>
          </a:p>
        </p:txBody>
      </p:sp>
      <p:sp>
        <p:nvSpPr>
          <p:cNvPr id="8" name="Text 6"/>
          <p:cNvSpPr/>
          <p:nvPr/>
        </p:nvSpPr>
        <p:spPr>
          <a:xfrm>
            <a:off x="2706624" y="1591056"/>
            <a:ext cx="1920240" cy="274320"/>
          </a:xfrm>
          <a:prstGeom prst="rect">
            <a:avLst/>
          </a:prstGeom>
          <a:noFill/>
          <a:ln/>
        </p:spPr>
        <p:txBody>
          <a:bodyPr wrap="square" lIns="0" tIns="0" rIns="0" bIns="0" rtlCol="0" anchor="ctr"/>
          <a:lstStyle/>
          <a:p>
            <a:pPr marL="0" indent="0">
              <a:buNone/>
            </a:pPr>
            <a:r>
              <a:rPr lang="en-US" sz="1100" dirty="0">
                <a:solidFill>
                  <a:srgbClr val="6E767E"/>
                </a:solidFill>
                <a:latin typeface="Calibri" pitchFamily="34" charset="0"/>
                <a:ea typeface="Calibri" pitchFamily="34" charset="-122"/>
                <a:cs typeface="Calibri" pitchFamily="34" charset="-120"/>
              </a:rPr>
              <a:t>leagues</a:t>
            </a:r>
            <a:endParaRPr lang="en-US" sz="1100" dirty="0"/>
          </a:p>
        </p:txBody>
      </p:sp>
      <p:sp>
        <p:nvSpPr>
          <p:cNvPr id="9" name="Text 7"/>
          <p:cNvSpPr/>
          <p:nvPr/>
        </p:nvSpPr>
        <p:spPr>
          <a:xfrm>
            <a:off x="4700016" y="1078992"/>
            <a:ext cx="1920240" cy="502920"/>
          </a:xfrm>
          <a:prstGeom prst="rect">
            <a:avLst/>
          </a:prstGeom>
          <a:noFill/>
          <a:ln/>
        </p:spPr>
        <p:txBody>
          <a:bodyPr wrap="square" lIns="0" tIns="0" rIns="0" bIns="0" rtlCol="0" anchor="ctr"/>
          <a:lstStyle/>
          <a:p>
            <a:pPr marL="0" indent="0">
              <a:buNone/>
            </a:pPr>
            <a:r>
              <a:rPr lang="en-US" sz="3000" b="1" dirty="0">
                <a:solidFill>
                  <a:srgbClr val="C8102E"/>
                </a:solidFill>
                <a:latin typeface="Cambria" pitchFamily="34" charset="0"/>
                <a:ea typeface="Cambria" pitchFamily="34" charset="-122"/>
                <a:cs typeface="Cambria" pitchFamily="34" charset="-120"/>
              </a:rPr>
              <a:t>16</a:t>
            </a:r>
            <a:endParaRPr lang="en-US" sz="3000" dirty="0"/>
          </a:p>
        </p:txBody>
      </p:sp>
      <p:sp>
        <p:nvSpPr>
          <p:cNvPr id="10" name="Text 8"/>
          <p:cNvSpPr/>
          <p:nvPr/>
        </p:nvSpPr>
        <p:spPr>
          <a:xfrm>
            <a:off x="4700016" y="1591056"/>
            <a:ext cx="1920240" cy="274320"/>
          </a:xfrm>
          <a:prstGeom prst="rect">
            <a:avLst/>
          </a:prstGeom>
          <a:noFill/>
          <a:ln/>
        </p:spPr>
        <p:txBody>
          <a:bodyPr wrap="square" lIns="0" tIns="0" rIns="0" bIns="0" rtlCol="0" anchor="ctr"/>
          <a:lstStyle/>
          <a:p>
            <a:pPr marL="0" indent="0">
              <a:buNone/>
            </a:pPr>
            <a:r>
              <a:rPr lang="en-US" sz="1100" dirty="0">
                <a:solidFill>
                  <a:srgbClr val="6E767E"/>
                </a:solidFill>
                <a:latin typeface="Calibri" pitchFamily="34" charset="0"/>
                <a:ea typeface="Calibri" pitchFamily="34" charset="-122"/>
                <a:cs typeface="Calibri" pitchFamily="34" charset="-120"/>
              </a:rPr>
              <a:t>performance metrics</a:t>
            </a:r>
            <a:endParaRPr lang="en-US" sz="1100" dirty="0"/>
          </a:p>
        </p:txBody>
      </p:sp>
      <p:sp>
        <p:nvSpPr>
          <p:cNvPr id="11" name="Text 9"/>
          <p:cNvSpPr/>
          <p:nvPr/>
        </p:nvSpPr>
        <p:spPr>
          <a:xfrm>
            <a:off x="6693408" y="1078992"/>
            <a:ext cx="1920240" cy="502920"/>
          </a:xfrm>
          <a:prstGeom prst="rect">
            <a:avLst/>
          </a:prstGeom>
          <a:noFill/>
          <a:ln/>
        </p:spPr>
        <p:txBody>
          <a:bodyPr wrap="square" lIns="0" tIns="0" rIns="0" bIns="0" rtlCol="0" anchor="ctr"/>
          <a:lstStyle/>
          <a:p>
            <a:pPr marL="0" indent="0">
              <a:buNone/>
            </a:pPr>
            <a:r>
              <a:rPr lang="en-US" sz="3000" b="1" dirty="0">
                <a:solidFill>
                  <a:srgbClr val="C8102E"/>
                </a:solidFill>
                <a:latin typeface="Cambria" pitchFamily="34" charset="0"/>
                <a:ea typeface="Cambria" pitchFamily="34" charset="-122"/>
                <a:cs typeface="Cambria" pitchFamily="34" charset="-120"/>
              </a:rPr>
              <a:t>3</a:t>
            </a:r>
            <a:endParaRPr lang="en-US" sz="3000" dirty="0"/>
          </a:p>
        </p:txBody>
      </p:sp>
      <p:sp>
        <p:nvSpPr>
          <p:cNvPr id="12" name="Text 10"/>
          <p:cNvSpPr/>
          <p:nvPr/>
        </p:nvSpPr>
        <p:spPr>
          <a:xfrm>
            <a:off x="6693408" y="1591056"/>
            <a:ext cx="1920240" cy="274320"/>
          </a:xfrm>
          <a:prstGeom prst="rect">
            <a:avLst/>
          </a:prstGeom>
          <a:noFill/>
          <a:ln/>
        </p:spPr>
        <p:txBody>
          <a:bodyPr wrap="square" lIns="0" tIns="0" rIns="0" bIns="0" rtlCol="0" anchor="ctr"/>
          <a:lstStyle/>
          <a:p>
            <a:pPr marL="0" indent="0">
              <a:buNone/>
            </a:pPr>
            <a:r>
              <a:rPr lang="en-US" sz="1100" dirty="0">
                <a:solidFill>
                  <a:srgbClr val="6E767E"/>
                </a:solidFill>
                <a:latin typeface="Calibri" pitchFamily="34" charset="0"/>
                <a:ea typeface="Calibri" pitchFamily="34" charset="-122"/>
                <a:cs typeface="Calibri" pitchFamily="34" charset="-120"/>
              </a:rPr>
              <a:t>FIFA seasons</a:t>
            </a:r>
            <a:endParaRPr lang="en-US" sz="1100" dirty="0"/>
          </a:p>
        </p:txBody>
      </p:sp>
      <p:sp>
        <p:nvSpPr>
          <p:cNvPr id="13" name="Shape 11"/>
          <p:cNvSpPr/>
          <p:nvPr/>
        </p:nvSpPr>
        <p:spPr>
          <a:xfrm>
            <a:off x="713232" y="2121408"/>
            <a:ext cx="2606040" cy="1691640"/>
          </a:xfrm>
          <a:prstGeom prst="roundRect">
            <a:avLst>
              <a:gd name="adj" fmla="val 3243"/>
            </a:avLst>
          </a:prstGeom>
          <a:solidFill>
            <a:srgbClr val="F4F5F7"/>
          </a:solidFill>
          <a:ln/>
          <a:effectLst>
            <a:outerShdw blurRad="88900" dist="38100" dir="5400000" algn="bl" rotWithShape="0">
              <a:srgbClr val="000000">
                <a:alpha val="12000"/>
              </a:srgbClr>
            </a:outerShdw>
          </a:effectLst>
        </p:spPr>
        <p:txBody>
          <a:bodyPr/>
          <a:lstStyle/>
          <a:p>
            <a:endParaRPr lang="en-GB"/>
          </a:p>
        </p:txBody>
      </p:sp>
      <p:sp>
        <p:nvSpPr>
          <p:cNvPr id="14" name="Text 12"/>
          <p:cNvSpPr/>
          <p:nvPr/>
        </p:nvSpPr>
        <p:spPr>
          <a:xfrm>
            <a:off x="914400" y="2286000"/>
            <a:ext cx="2240280" cy="320040"/>
          </a:xfrm>
          <a:prstGeom prst="rect">
            <a:avLst/>
          </a:prstGeom>
          <a:noFill/>
          <a:ln/>
        </p:spPr>
        <p:txBody>
          <a:bodyPr wrap="square" lIns="0" tIns="0" rIns="0" bIns="0" rtlCol="0" anchor="ctr"/>
          <a:lstStyle/>
          <a:p>
            <a:pPr marL="0" indent="0">
              <a:buNone/>
            </a:pPr>
            <a:r>
              <a:rPr lang="en-US" sz="1500" b="1" dirty="0">
                <a:solidFill>
                  <a:srgbClr val="C8102E"/>
                </a:solidFill>
                <a:latin typeface="Cambria" pitchFamily="34" charset="0"/>
                <a:ea typeface="Cambria" pitchFamily="34" charset="-122"/>
                <a:cs typeface="Cambria" pitchFamily="34" charset="-120"/>
              </a:rPr>
              <a:t>Transfermarkt</a:t>
            </a:r>
            <a:endParaRPr lang="en-US" sz="1500" dirty="0"/>
          </a:p>
        </p:txBody>
      </p:sp>
      <p:sp>
        <p:nvSpPr>
          <p:cNvPr id="15" name="Text 13"/>
          <p:cNvSpPr/>
          <p:nvPr/>
        </p:nvSpPr>
        <p:spPr>
          <a:xfrm>
            <a:off x="914400" y="2697480"/>
            <a:ext cx="2221992" cy="10058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3262B"/>
                </a:solidFill>
                <a:latin typeface="Calibri" pitchFamily="34" charset="0"/>
                <a:ea typeface="Calibri" pitchFamily="34" charset="-122"/>
                <a:cs typeface="Calibri" pitchFamily="34" charset="-120"/>
              </a:rPr>
              <a:t>Identity, age, club, market value</a:t>
            </a:r>
            <a:endParaRPr lang="en-US" sz="1100" dirty="0"/>
          </a:p>
          <a:p>
            <a:pPr marL="342900" indent="-342900">
              <a:spcAft>
                <a:spcPts val="600"/>
              </a:spcAft>
              <a:buSzPct val="100000"/>
              <a:buChar char="•"/>
            </a:pPr>
            <a:r>
              <a:rPr lang="en-US" sz="1100" dirty="0">
                <a:solidFill>
                  <a:srgbClr val="23262B"/>
                </a:solidFill>
                <a:latin typeface="Calibri" pitchFamily="34" charset="0"/>
                <a:ea typeface="Calibri" pitchFamily="34" charset="-122"/>
                <a:cs typeface="Calibri" pitchFamily="34" charset="-120"/>
              </a:rPr>
              <a:t>Global coverage</a:t>
            </a:r>
            <a:endParaRPr lang="en-US" sz="1100" dirty="0"/>
          </a:p>
          <a:p>
            <a:pPr marL="342900" indent="-342900">
              <a:spcAft>
                <a:spcPts val="600"/>
              </a:spcAft>
              <a:buSzPct val="100000"/>
              <a:buChar char="•"/>
            </a:pPr>
            <a:r>
              <a:rPr lang="en-US" sz="1100" dirty="0">
                <a:solidFill>
                  <a:srgbClr val="23262B"/>
                </a:solidFill>
                <a:latin typeface="Calibri" pitchFamily="34" charset="0"/>
                <a:ea typeface="Calibri" pitchFamily="34" charset="-122"/>
                <a:cs typeface="Calibri" pitchFamily="34" charset="-120"/>
              </a:rPr>
              <a:t>Ground truth for player &amp; price</a:t>
            </a:r>
            <a:endParaRPr lang="en-US" sz="1100" dirty="0"/>
          </a:p>
        </p:txBody>
      </p:sp>
      <p:sp>
        <p:nvSpPr>
          <p:cNvPr id="16" name="Shape 14"/>
          <p:cNvSpPr/>
          <p:nvPr/>
        </p:nvSpPr>
        <p:spPr>
          <a:xfrm>
            <a:off x="3511296" y="2121408"/>
            <a:ext cx="2606040" cy="1691640"/>
          </a:xfrm>
          <a:prstGeom prst="roundRect">
            <a:avLst>
              <a:gd name="adj" fmla="val 3243"/>
            </a:avLst>
          </a:prstGeom>
          <a:solidFill>
            <a:srgbClr val="F4F5F7"/>
          </a:solidFill>
          <a:ln/>
          <a:effectLst>
            <a:outerShdw blurRad="88900" dist="38100" dir="5400000" algn="bl" rotWithShape="0">
              <a:srgbClr val="000000">
                <a:alpha val="12000"/>
              </a:srgbClr>
            </a:outerShdw>
          </a:effectLst>
        </p:spPr>
        <p:txBody>
          <a:bodyPr/>
          <a:lstStyle/>
          <a:p>
            <a:endParaRPr lang="en-GB"/>
          </a:p>
        </p:txBody>
      </p:sp>
      <p:sp>
        <p:nvSpPr>
          <p:cNvPr id="17" name="Text 15"/>
          <p:cNvSpPr/>
          <p:nvPr/>
        </p:nvSpPr>
        <p:spPr>
          <a:xfrm>
            <a:off x="3712464" y="2286000"/>
            <a:ext cx="2240280" cy="320040"/>
          </a:xfrm>
          <a:prstGeom prst="rect">
            <a:avLst/>
          </a:prstGeom>
          <a:noFill/>
          <a:ln/>
        </p:spPr>
        <p:txBody>
          <a:bodyPr wrap="square" lIns="0" tIns="0" rIns="0" bIns="0" rtlCol="0" anchor="ctr"/>
          <a:lstStyle/>
          <a:p>
            <a:pPr marL="0" indent="0">
              <a:buNone/>
            </a:pPr>
            <a:r>
              <a:rPr lang="en-US" sz="1500" b="1" dirty="0">
                <a:solidFill>
                  <a:srgbClr val="C8102E"/>
                </a:solidFill>
                <a:latin typeface="Cambria" pitchFamily="34" charset="0"/>
                <a:ea typeface="Cambria" pitchFamily="34" charset="-122"/>
                <a:cs typeface="Cambria" pitchFamily="34" charset="-120"/>
              </a:rPr>
              <a:t>FBref</a:t>
            </a:r>
            <a:endParaRPr lang="en-US" sz="1500" dirty="0"/>
          </a:p>
        </p:txBody>
      </p:sp>
      <p:sp>
        <p:nvSpPr>
          <p:cNvPr id="18" name="Text 16"/>
          <p:cNvSpPr/>
          <p:nvPr/>
        </p:nvSpPr>
        <p:spPr>
          <a:xfrm>
            <a:off x="3712464" y="2697480"/>
            <a:ext cx="2221992" cy="10058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3262B"/>
                </a:solidFill>
                <a:latin typeface="Calibri" pitchFamily="34" charset="0"/>
                <a:ea typeface="Calibri" pitchFamily="34" charset="-122"/>
                <a:cs typeface="Calibri" pitchFamily="34" charset="-120"/>
              </a:rPr>
              <a:t>All on-pitch performance metrics</a:t>
            </a:r>
            <a:endParaRPr lang="en-US" sz="1100" dirty="0"/>
          </a:p>
          <a:p>
            <a:pPr marL="342900" indent="-342900">
              <a:spcAft>
                <a:spcPts val="600"/>
              </a:spcAft>
              <a:buSzPct val="100000"/>
              <a:buChar char="•"/>
            </a:pPr>
            <a:r>
              <a:rPr lang="en-US" sz="1100" dirty="0">
                <a:solidFill>
                  <a:srgbClr val="23262B"/>
                </a:solidFill>
                <a:latin typeface="Calibri" pitchFamily="34" charset="0"/>
                <a:ea typeface="Calibri" pitchFamily="34" charset="-122"/>
                <a:cs typeface="Calibri" pitchFamily="34" charset="-120"/>
              </a:rPr>
              <a:t>Big 5 leagues, 2024-25 season</a:t>
            </a:r>
            <a:endParaRPr lang="en-US" sz="1100" dirty="0"/>
          </a:p>
          <a:p>
            <a:pPr marL="342900" indent="-342900">
              <a:spcAft>
                <a:spcPts val="600"/>
              </a:spcAft>
              <a:buSzPct val="100000"/>
              <a:buChar char="•"/>
            </a:pPr>
            <a:r>
              <a:rPr lang="en-US" sz="1100" dirty="0">
                <a:solidFill>
                  <a:srgbClr val="23262B"/>
                </a:solidFill>
                <a:latin typeface="Calibri" pitchFamily="34" charset="0"/>
                <a:ea typeface="Calibri" pitchFamily="34" charset="-122"/>
                <a:cs typeface="Calibri" pitchFamily="34" charset="-120"/>
              </a:rPr>
              <a:t>Per-90, 450-minute minimum</a:t>
            </a:r>
            <a:endParaRPr lang="en-US" sz="1100" dirty="0"/>
          </a:p>
        </p:txBody>
      </p:sp>
      <p:sp>
        <p:nvSpPr>
          <p:cNvPr id="19" name="Shape 17"/>
          <p:cNvSpPr/>
          <p:nvPr/>
        </p:nvSpPr>
        <p:spPr>
          <a:xfrm>
            <a:off x="6309360" y="2121408"/>
            <a:ext cx="2606040" cy="1691640"/>
          </a:xfrm>
          <a:prstGeom prst="roundRect">
            <a:avLst>
              <a:gd name="adj" fmla="val 3243"/>
            </a:avLst>
          </a:prstGeom>
          <a:solidFill>
            <a:srgbClr val="F4F5F7"/>
          </a:solidFill>
          <a:ln/>
          <a:effectLst>
            <a:outerShdw blurRad="88900" dist="38100" dir="5400000" algn="bl" rotWithShape="0">
              <a:srgbClr val="000000">
                <a:alpha val="12000"/>
              </a:srgbClr>
            </a:outerShdw>
          </a:effectLst>
        </p:spPr>
        <p:txBody>
          <a:bodyPr/>
          <a:lstStyle/>
          <a:p>
            <a:endParaRPr lang="en-GB"/>
          </a:p>
        </p:txBody>
      </p:sp>
      <p:sp>
        <p:nvSpPr>
          <p:cNvPr id="20" name="Text 18"/>
          <p:cNvSpPr/>
          <p:nvPr/>
        </p:nvSpPr>
        <p:spPr>
          <a:xfrm>
            <a:off x="6510528" y="2286000"/>
            <a:ext cx="2240280" cy="320040"/>
          </a:xfrm>
          <a:prstGeom prst="rect">
            <a:avLst/>
          </a:prstGeom>
          <a:noFill/>
          <a:ln/>
        </p:spPr>
        <p:txBody>
          <a:bodyPr wrap="square" lIns="0" tIns="0" rIns="0" bIns="0" rtlCol="0" anchor="ctr"/>
          <a:lstStyle/>
          <a:p>
            <a:pPr marL="0" indent="0">
              <a:buNone/>
            </a:pPr>
            <a:r>
              <a:rPr lang="en-US" sz="1500" b="1" dirty="0">
                <a:solidFill>
                  <a:srgbClr val="C8102E"/>
                </a:solidFill>
                <a:latin typeface="Cambria" pitchFamily="34" charset="0"/>
                <a:ea typeface="Cambria" pitchFamily="34" charset="-122"/>
                <a:cs typeface="Cambria" pitchFamily="34" charset="-120"/>
              </a:rPr>
              <a:t>FIFA 19 · 21 · 23</a:t>
            </a:r>
            <a:endParaRPr lang="en-US" sz="1500" dirty="0"/>
          </a:p>
        </p:txBody>
      </p:sp>
      <p:sp>
        <p:nvSpPr>
          <p:cNvPr id="21" name="Text 19"/>
          <p:cNvSpPr/>
          <p:nvPr/>
        </p:nvSpPr>
        <p:spPr>
          <a:xfrm>
            <a:off x="6510528" y="2697480"/>
            <a:ext cx="2221992" cy="10058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3262B"/>
                </a:solidFill>
                <a:latin typeface="Calibri" pitchFamily="34" charset="0"/>
                <a:ea typeface="Calibri" pitchFamily="34" charset="-122"/>
                <a:cs typeface="Calibri" pitchFamily="34" charset="-120"/>
              </a:rPr>
              <a:t>Reputation &amp; rating proxy</a:t>
            </a:r>
            <a:endParaRPr lang="en-US" sz="1100" dirty="0"/>
          </a:p>
          <a:p>
            <a:pPr marL="342900" indent="-342900">
              <a:spcAft>
                <a:spcPts val="600"/>
              </a:spcAft>
              <a:buSzPct val="100000"/>
              <a:buChar char="•"/>
            </a:pPr>
            <a:r>
              <a:rPr lang="en-US" sz="1100" dirty="0">
                <a:solidFill>
                  <a:srgbClr val="23262B"/>
                </a:solidFill>
                <a:latin typeface="Calibri" pitchFamily="34" charset="0"/>
                <a:ea typeface="Calibri" pitchFamily="34" charset="-122"/>
                <a:cs typeface="Calibri" pitchFamily="34" charset="-120"/>
              </a:rPr>
              <a:t>Global, all leagues</a:t>
            </a:r>
            <a:endParaRPr lang="en-US" sz="1100" dirty="0"/>
          </a:p>
          <a:p>
            <a:pPr marL="342900" indent="-342900">
              <a:spcAft>
                <a:spcPts val="600"/>
              </a:spcAft>
              <a:buSzPct val="100000"/>
              <a:buChar char="•"/>
            </a:pPr>
            <a:r>
              <a:rPr lang="en-US" sz="1100" dirty="0">
                <a:solidFill>
                  <a:srgbClr val="23262B"/>
                </a:solidFill>
                <a:latin typeface="Calibri" pitchFamily="34" charset="0"/>
                <a:ea typeface="Calibri" pitchFamily="34" charset="-122"/>
                <a:cs typeface="Calibri" pitchFamily="34" charset="-120"/>
              </a:rPr>
              <a:t>Overall, potential, value over time</a:t>
            </a:r>
            <a:endParaRPr lang="en-US" sz="1100" dirty="0"/>
          </a:p>
        </p:txBody>
      </p:sp>
      <p:sp>
        <p:nvSpPr>
          <p:cNvPr id="22" name="Shape 20"/>
          <p:cNvSpPr/>
          <p:nvPr/>
        </p:nvSpPr>
        <p:spPr>
          <a:xfrm>
            <a:off x="713232" y="4023360"/>
            <a:ext cx="7973568" cy="566928"/>
          </a:xfrm>
          <a:prstGeom prst="roundRect">
            <a:avLst>
              <a:gd name="adj" fmla="val 8065"/>
            </a:avLst>
          </a:prstGeom>
          <a:solidFill>
            <a:srgbClr val="FBEAEC"/>
          </a:solidFill>
          <a:ln/>
        </p:spPr>
        <p:txBody>
          <a:bodyPr/>
          <a:lstStyle/>
          <a:p>
            <a:endParaRPr lang="en-GB"/>
          </a:p>
        </p:txBody>
      </p:sp>
      <p:sp>
        <p:nvSpPr>
          <p:cNvPr id="23" name="Text 21"/>
          <p:cNvSpPr/>
          <p:nvPr/>
        </p:nvSpPr>
        <p:spPr>
          <a:xfrm>
            <a:off x="914400" y="4023360"/>
            <a:ext cx="7589520" cy="566928"/>
          </a:xfrm>
          <a:prstGeom prst="rect">
            <a:avLst/>
          </a:prstGeom>
          <a:noFill/>
          <a:ln/>
        </p:spPr>
        <p:txBody>
          <a:bodyPr wrap="square" lIns="0" tIns="0" rIns="0" bIns="0" rtlCol="0" anchor="ctr"/>
          <a:lstStyle/>
          <a:p>
            <a:pPr marL="0" indent="0">
              <a:buNone/>
            </a:pPr>
            <a:r>
              <a:rPr lang="en-US" sz="1200" b="1" dirty="0">
                <a:solidFill>
                  <a:srgbClr val="C8102E"/>
                </a:solidFill>
                <a:latin typeface="Calibri" pitchFamily="34" charset="0"/>
                <a:ea typeface="Calibri" pitchFamily="34" charset="-122"/>
                <a:cs typeface="Calibri" pitchFamily="34" charset="-120"/>
              </a:rPr>
              <a:t>Key limitation:  </a:t>
            </a:r>
            <a:r>
              <a:rPr lang="en-US" sz="1200" dirty="0">
                <a:solidFill>
                  <a:srgbClr val="23262B"/>
                </a:solidFill>
                <a:latin typeface="Calibri" pitchFamily="34" charset="0"/>
                <a:ea typeface="Calibri" pitchFamily="34" charset="-122"/>
                <a:cs typeface="Calibri" pitchFamily="34" charset="-120"/>
              </a:rPr>
              <a:t>performance is Big 5 only - market value is global, so the verified player analysis lives inside the Big 5.</a:t>
            </a:r>
            <a:endParaRPr lang="en-US" sz="1200" dirty="0"/>
          </a:p>
        </p:txBody>
      </p:sp>
      <p:sp>
        <p:nvSpPr>
          <p:cNvPr id="24" name="Text 22"/>
          <p:cNvSpPr/>
          <p:nvPr/>
        </p:nvSpPr>
        <p:spPr>
          <a:xfrm>
            <a:off x="457200" y="4855464"/>
            <a:ext cx="5486400" cy="201168"/>
          </a:xfrm>
          <a:prstGeom prst="rect">
            <a:avLst/>
          </a:prstGeom>
          <a:noFill/>
          <a:ln/>
        </p:spPr>
        <p:txBody>
          <a:bodyPr wrap="square" lIns="0" tIns="0" rIns="0" bIns="0" rtlCol="0" anchor="ctr"/>
          <a:lstStyle/>
          <a:p>
            <a:pPr marL="0" indent="0">
              <a:buNone/>
            </a:pPr>
            <a:r>
              <a:rPr lang="en-US" sz="800" dirty="0">
                <a:solidFill>
                  <a:srgbClr val="6E767E"/>
                </a:solidFill>
                <a:latin typeface="Calibri" pitchFamily="34" charset="0"/>
                <a:ea typeface="Calibri" pitchFamily="34" charset="-122"/>
                <a:cs typeface="Calibri" pitchFamily="34" charset="-120"/>
              </a:rPr>
              <a:t>Brentford FC  ·  Head of Recruitment Dashboard</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ellipse">
            <a:avLst/>
          </a:prstGeom>
          <a:solidFill>
            <a:srgbClr val="C8102E"/>
          </a:solidFill>
          <a:ln/>
        </p:spPr>
        <p:txBody>
          <a:bodyPr/>
          <a:lstStyle/>
          <a:p>
            <a:endParaRPr lang="en-GB"/>
          </a:p>
        </p:txBody>
      </p:sp>
      <p:sp>
        <p:nvSpPr>
          <p:cNvPr id="3" name="Text 1"/>
          <p:cNvSpPr/>
          <p:nvPr/>
        </p:nvSpPr>
        <p:spPr>
          <a:xfrm>
            <a:off x="713232" y="274320"/>
            <a:ext cx="7955280" cy="502920"/>
          </a:xfrm>
          <a:prstGeom prst="rect">
            <a:avLst/>
          </a:prstGeom>
          <a:noFill/>
          <a:ln/>
        </p:spPr>
        <p:txBody>
          <a:bodyPr wrap="square" lIns="0" tIns="0" rIns="0" bIns="0" rtlCol="0" anchor="ctr"/>
          <a:lstStyle/>
          <a:p>
            <a:pPr marL="0" indent="0">
              <a:buNone/>
            </a:pPr>
            <a:r>
              <a:rPr lang="en-US" sz="2900" b="1" dirty="0">
                <a:solidFill>
                  <a:srgbClr val="23262B"/>
                </a:solidFill>
                <a:latin typeface="Cambria" pitchFamily="34" charset="0"/>
                <a:ea typeface="Cambria" pitchFamily="34" charset="-122"/>
                <a:cs typeface="Cambria" pitchFamily="34" charset="-120"/>
              </a:rPr>
              <a:t>The Data Model - Galaxy Schema</a:t>
            </a:r>
            <a:endParaRPr lang="en-US" sz="2900" dirty="0"/>
          </a:p>
        </p:txBody>
      </p:sp>
      <p:sp>
        <p:nvSpPr>
          <p:cNvPr id="4" name="Text 2"/>
          <p:cNvSpPr/>
          <p:nvPr/>
        </p:nvSpPr>
        <p:spPr>
          <a:xfrm>
            <a:off x="713232" y="749808"/>
            <a:ext cx="7315200" cy="201168"/>
          </a:xfrm>
          <a:prstGeom prst="rect">
            <a:avLst/>
          </a:prstGeom>
          <a:noFill/>
          <a:ln/>
        </p:spPr>
        <p:txBody>
          <a:bodyPr wrap="square" lIns="0" tIns="0" rIns="0" bIns="0" rtlCol="0" anchor="ctr"/>
          <a:lstStyle/>
          <a:p>
            <a:pPr marL="0" indent="0">
              <a:buNone/>
            </a:pPr>
            <a:r>
              <a:rPr lang="en-US" sz="950" b="1" kern="0" spc="200" dirty="0">
                <a:solidFill>
                  <a:srgbClr val="C8102E"/>
                </a:solidFill>
                <a:latin typeface="Calibri" pitchFamily="34" charset="0"/>
                <a:ea typeface="Calibri" pitchFamily="34" charset="-122"/>
                <a:cs typeface="Calibri" pitchFamily="34" charset="-120"/>
              </a:rPr>
              <a:t>GALAXY SCHEMA</a:t>
            </a:r>
            <a:endParaRPr lang="en-US" sz="950" dirty="0"/>
          </a:p>
        </p:txBody>
      </p:sp>
      <p:sp>
        <p:nvSpPr>
          <p:cNvPr id="5" name="Shape 3"/>
          <p:cNvSpPr/>
          <p:nvPr/>
        </p:nvSpPr>
        <p:spPr>
          <a:xfrm>
            <a:off x="585216" y="1088136"/>
            <a:ext cx="4310207" cy="3355848"/>
          </a:xfrm>
          <a:prstGeom prst="rect">
            <a:avLst/>
          </a:prstGeom>
          <a:solidFill>
            <a:srgbClr val="FFFFFF"/>
          </a:solidFill>
          <a:ln w="12700">
            <a:solidFill>
              <a:srgbClr val="DDE0E4"/>
            </a:solidFill>
            <a:prstDash val="solid"/>
          </a:ln>
          <a:effectLst>
            <a:outerShdw blurRad="114300" dist="38100" dir="5400000" algn="bl" rotWithShape="0">
              <a:srgbClr val="000000">
                <a:alpha val="18000"/>
              </a:srgbClr>
            </a:outerShdw>
          </a:effectLst>
        </p:spPr>
        <p:txBody>
          <a:bodyPr/>
          <a:lstStyle/>
          <a:p>
            <a:endParaRPr lang="en-GB"/>
          </a:p>
        </p:txBody>
      </p:sp>
      <p:pic>
        <p:nvPicPr>
          <p:cNvPr id="6" name="Image 0" descr="img/galaxy.png"/>
          <p:cNvPicPr>
            <a:picLocks noChangeAspect="1"/>
          </p:cNvPicPr>
          <p:nvPr/>
        </p:nvPicPr>
        <p:blipFill>
          <a:blip r:embed="rId3"/>
          <a:stretch>
            <a:fillRect/>
          </a:stretch>
        </p:blipFill>
        <p:spPr>
          <a:xfrm>
            <a:off x="640080" y="1143000"/>
            <a:ext cx="4200479" cy="3246120"/>
          </a:xfrm>
          <a:prstGeom prst="rect">
            <a:avLst/>
          </a:prstGeom>
        </p:spPr>
      </p:pic>
      <p:sp>
        <p:nvSpPr>
          <p:cNvPr id="7" name="Text 4"/>
          <p:cNvSpPr/>
          <p:nvPr/>
        </p:nvSpPr>
        <p:spPr>
          <a:xfrm>
            <a:off x="5252039" y="1705356"/>
            <a:ext cx="3246120" cy="274320"/>
          </a:xfrm>
          <a:prstGeom prst="rect">
            <a:avLst/>
          </a:prstGeom>
          <a:noFill/>
          <a:ln/>
        </p:spPr>
        <p:txBody>
          <a:bodyPr wrap="square" lIns="0" tIns="0" rIns="0" bIns="0" rtlCol="0" anchor="ctr"/>
          <a:lstStyle/>
          <a:p>
            <a:pPr marL="0" indent="0">
              <a:buNone/>
            </a:pPr>
            <a:r>
              <a:rPr lang="en-US" sz="1400" b="1" dirty="0">
                <a:solidFill>
                  <a:srgbClr val="C8102E"/>
                </a:solidFill>
                <a:latin typeface="Cambria" pitchFamily="34" charset="0"/>
                <a:ea typeface="Cambria" pitchFamily="34" charset="-122"/>
                <a:cs typeface="Cambria" pitchFamily="34" charset="-120"/>
              </a:rPr>
              <a:t>Two fact tables</a:t>
            </a:r>
            <a:endParaRPr lang="en-US" sz="1400" dirty="0"/>
          </a:p>
        </p:txBody>
      </p:sp>
      <p:sp>
        <p:nvSpPr>
          <p:cNvPr id="8" name="Text 5"/>
          <p:cNvSpPr/>
          <p:nvPr/>
        </p:nvSpPr>
        <p:spPr>
          <a:xfrm>
            <a:off x="5252039" y="1997964"/>
            <a:ext cx="3246120" cy="731520"/>
          </a:xfrm>
          <a:prstGeom prst="rect">
            <a:avLst/>
          </a:prstGeom>
          <a:noFill/>
          <a:ln/>
        </p:spPr>
        <p:txBody>
          <a:bodyPr wrap="square" lIns="0" tIns="0" rIns="0" bIns="0" rtlCol="0" anchor="ctr"/>
          <a:lstStyle/>
          <a:p>
            <a:pPr marL="0" indent="0">
              <a:buNone/>
            </a:pPr>
            <a:r>
              <a:rPr lang="en-US" sz="1200" dirty="0">
                <a:solidFill>
                  <a:srgbClr val="23262B"/>
                </a:solidFill>
                <a:latin typeface="Calibri" pitchFamily="34" charset="0"/>
                <a:ea typeface="Calibri" pitchFamily="34" charset="-122"/>
                <a:cs typeface="Calibri" pitchFamily="34" charset="-120"/>
              </a:rPr>
              <a:t>fact_performance (FBref) · fact_player_season (FIFA)</a:t>
            </a:r>
            <a:endParaRPr lang="en-US" sz="1200" dirty="0"/>
          </a:p>
        </p:txBody>
      </p:sp>
      <p:sp>
        <p:nvSpPr>
          <p:cNvPr id="9" name="Text 6"/>
          <p:cNvSpPr/>
          <p:nvPr/>
        </p:nvSpPr>
        <p:spPr>
          <a:xfrm>
            <a:off x="5252039" y="2802636"/>
            <a:ext cx="3246120" cy="274320"/>
          </a:xfrm>
          <a:prstGeom prst="rect">
            <a:avLst/>
          </a:prstGeom>
          <a:noFill/>
          <a:ln/>
        </p:spPr>
        <p:txBody>
          <a:bodyPr wrap="square" lIns="0" tIns="0" rIns="0" bIns="0" rtlCol="0" anchor="ctr"/>
          <a:lstStyle/>
          <a:p>
            <a:pPr marL="0" indent="0">
              <a:buNone/>
            </a:pPr>
            <a:r>
              <a:rPr lang="en-US" sz="1400" b="1" dirty="0">
                <a:solidFill>
                  <a:srgbClr val="C8102E"/>
                </a:solidFill>
                <a:latin typeface="Cambria" pitchFamily="34" charset="0"/>
                <a:ea typeface="Cambria" pitchFamily="34" charset="-122"/>
                <a:cs typeface="Cambria" pitchFamily="34" charset="-120"/>
              </a:rPr>
              <a:t>Six shared dimensions</a:t>
            </a:r>
            <a:endParaRPr lang="en-US" sz="1400" dirty="0"/>
          </a:p>
        </p:txBody>
      </p:sp>
      <p:sp>
        <p:nvSpPr>
          <p:cNvPr id="10" name="Text 7"/>
          <p:cNvSpPr/>
          <p:nvPr/>
        </p:nvSpPr>
        <p:spPr>
          <a:xfrm>
            <a:off x="5252039" y="3095244"/>
            <a:ext cx="3246120" cy="731520"/>
          </a:xfrm>
          <a:prstGeom prst="rect">
            <a:avLst/>
          </a:prstGeom>
          <a:noFill/>
          <a:ln/>
        </p:spPr>
        <p:txBody>
          <a:bodyPr wrap="square" lIns="0" tIns="0" rIns="0" bIns="0" rtlCol="0" anchor="ctr"/>
          <a:lstStyle/>
          <a:p>
            <a:pPr marL="0" indent="0">
              <a:buNone/>
            </a:pPr>
            <a:r>
              <a:rPr lang="en-US" sz="1200" dirty="0">
                <a:solidFill>
                  <a:srgbClr val="23262B"/>
                </a:solidFill>
                <a:latin typeface="Calibri" pitchFamily="34" charset="0"/>
                <a:ea typeface="Calibri" pitchFamily="34" charset="-122"/>
                <a:cs typeface="Calibri" pitchFamily="34" charset="-120"/>
              </a:rPr>
              <a:t>player · club · competition · country · position group · sub-position</a:t>
            </a:r>
            <a:endParaRPr lang="en-US" sz="1200" dirty="0"/>
          </a:p>
        </p:txBody>
      </p:sp>
      <p:sp>
        <p:nvSpPr>
          <p:cNvPr id="13" name="Text 10"/>
          <p:cNvSpPr/>
          <p:nvPr/>
        </p:nvSpPr>
        <p:spPr>
          <a:xfrm>
            <a:off x="457200" y="4855464"/>
            <a:ext cx="5486400" cy="201168"/>
          </a:xfrm>
          <a:prstGeom prst="rect">
            <a:avLst/>
          </a:prstGeom>
          <a:noFill/>
          <a:ln/>
        </p:spPr>
        <p:txBody>
          <a:bodyPr wrap="square" lIns="0" tIns="0" rIns="0" bIns="0" rtlCol="0" anchor="ctr"/>
          <a:lstStyle/>
          <a:p>
            <a:pPr marL="0" indent="0">
              <a:buNone/>
            </a:pPr>
            <a:r>
              <a:rPr lang="en-US" sz="800" dirty="0">
                <a:solidFill>
                  <a:srgbClr val="6E767E"/>
                </a:solidFill>
                <a:latin typeface="Calibri" pitchFamily="34" charset="0"/>
                <a:ea typeface="Calibri" pitchFamily="34" charset="-122"/>
                <a:cs typeface="Calibri" pitchFamily="34" charset="-120"/>
              </a:rPr>
              <a:t>Brentford FC  ·  Head of Recruitment Dashboard</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ellipse">
            <a:avLst/>
          </a:prstGeom>
          <a:solidFill>
            <a:srgbClr val="C8102E"/>
          </a:solidFill>
          <a:ln/>
        </p:spPr>
        <p:txBody>
          <a:bodyPr/>
          <a:lstStyle/>
          <a:p>
            <a:endParaRPr lang="en-GB"/>
          </a:p>
        </p:txBody>
      </p:sp>
      <p:sp>
        <p:nvSpPr>
          <p:cNvPr id="3" name="Text 1"/>
          <p:cNvSpPr/>
          <p:nvPr/>
        </p:nvSpPr>
        <p:spPr>
          <a:xfrm>
            <a:off x="713232" y="274320"/>
            <a:ext cx="7955280" cy="502920"/>
          </a:xfrm>
          <a:prstGeom prst="rect">
            <a:avLst/>
          </a:prstGeom>
          <a:noFill/>
          <a:ln/>
        </p:spPr>
        <p:txBody>
          <a:bodyPr wrap="square" lIns="0" tIns="0" rIns="0" bIns="0" rtlCol="0" anchor="ctr"/>
          <a:lstStyle/>
          <a:p>
            <a:pPr marL="0" indent="0">
              <a:buNone/>
            </a:pPr>
            <a:r>
              <a:rPr lang="en-US" sz="2900" b="1" dirty="0">
                <a:solidFill>
                  <a:srgbClr val="23262B"/>
                </a:solidFill>
                <a:latin typeface="Cambria" pitchFamily="34" charset="0"/>
                <a:ea typeface="Cambria" pitchFamily="34" charset="-122"/>
                <a:cs typeface="Cambria" pitchFamily="34" charset="-120"/>
              </a:rPr>
              <a:t>The Performance Index</a:t>
            </a:r>
            <a:endParaRPr lang="en-US" sz="2900" dirty="0"/>
          </a:p>
        </p:txBody>
      </p:sp>
      <p:sp>
        <p:nvSpPr>
          <p:cNvPr id="4" name="Text 2"/>
          <p:cNvSpPr/>
          <p:nvPr/>
        </p:nvSpPr>
        <p:spPr>
          <a:xfrm>
            <a:off x="713232" y="749808"/>
            <a:ext cx="7315200" cy="201168"/>
          </a:xfrm>
          <a:prstGeom prst="rect">
            <a:avLst/>
          </a:prstGeom>
          <a:noFill/>
          <a:ln/>
        </p:spPr>
        <p:txBody>
          <a:bodyPr wrap="square" lIns="0" tIns="0" rIns="0" bIns="0" rtlCol="0" anchor="ctr"/>
          <a:lstStyle/>
          <a:p>
            <a:pPr marL="0" indent="0">
              <a:buNone/>
            </a:pPr>
            <a:r>
              <a:rPr lang="en-US" sz="950" b="1" kern="0" spc="200" dirty="0">
                <a:solidFill>
                  <a:srgbClr val="C8102E"/>
                </a:solidFill>
                <a:latin typeface="Calibri" pitchFamily="34" charset="0"/>
                <a:ea typeface="Calibri" pitchFamily="34" charset="-122"/>
                <a:cs typeface="Calibri" pitchFamily="34" charset="-120"/>
              </a:rPr>
              <a:t>KEY METRIC</a:t>
            </a:r>
            <a:endParaRPr lang="en-US" sz="950" dirty="0"/>
          </a:p>
        </p:txBody>
      </p:sp>
      <p:sp>
        <p:nvSpPr>
          <p:cNvPr id="5" name="Text 3"/>
          <p:cNvSpPr/>
          <p:nvPr/>
        </p:nvSpPr>
        <p:spPr>
          <a:xfrm>
            <a:off x="713232" y="1078992"/>
            <a:ext cx="7955280" cy="457200"/>
          </a:xfrm>
          <a:prstGeom prst="rect">
            <a:avLst/>
          </a:prstGeom>
          <a:noFill/>
          <a:ln/>
        </p:spPr>
        <p:txBody>
          <a:bodyPr wrap="square" lIns="0" tIns="0" rIns="0" bIns="0" rtlCol="0" anchor="ctr"/>
          <a:lstStyle/>
          <a:p>
            <a:pPr marL="0" indent="0">
              <a:buNone/>
            </a:pPr>
            <a:r>
              <a:rPr lang="en-US" sz="1300" b="1" dirty="0">
                <a:solidFill>
                  <a:srgbClr val="23262B"/>
                </a:solidFill>
                <a:latin typeface="Calibri" pitchFamily="34" charset="0"/>
                <a:ea typeface="Calibri" pitchFamily="34" charset="-122"/>
                <a:cs typeface="Calibri" pitchFamily="34" charset="-120"/>
              </a:rPr>
              <a:t>One number, 0–100.  </a:t>
            </a:r>
            <a:r>
              <a:rPr lang="en-US" sz="1300" dirty="0">
                <a:solidFill>
                  <a:srgbClr val="23262B"/>
                </a:solidFill>
                <a:latin typeface="Calibri" pitchFamily="34" charset="0"/>
                <a:ea typeface="Calibri" pitchFamily="34" charset="-122"/>
                <a:cs typeface="Calibri" pitchFamily="34" charset="-120"/>
              </a:rPr>
              <a:t>The mean of a player's position-relevant percentile ranks.  50 = average for the position; 75 = top quarter.</a:t>
            </a:r>
            <a:endParaRPr lang="en-US" sz="1300" dirty="0"/>
          </a:p>
        </p:txBody>
      </p:sp>
      <p:sp>
        <p:nvSpPr>
          <p:cNvPr id="6" name="Shape 4"/>
          <p:cNvSpPr/>
          <p:nvPr/>
        </p:nvSpPr>
        <p:spPr>
          <a:xfrm>
            <a:off x="713232" y="1691640"/>
            <a:ext cx="1901952" cy="1417320"/>
          </a:xfrm>
          <a:prstGeom prst="roundRect">
            <a:avLst>
              <a:gd name="adj" fmla="val 3871"/>
            </a:avLst>
          </a:prstGeom>
          <a:solidFill>
            <a:srgbClr val="F4F5F7"/>
          </a:solidFill>
          <a:ln/>
          <a:effectLst>
            <a:outerShdw blurRad="88900" dist="38100" dir="5400000" algn="bl" rotWithShape="0">
              <a:srgbClr val="000000">
                <a:alpha val="12000"/>
              </a:srgbClr>
            </a:outerShdw>
          </a:effectLst>
        </p:spPr>
        <p:txBody>
          <a:bodyPr/>
          <a:lstStyle/>
          <a:p>
            <a:endParaRPr lang="en-GB"/>
          </a:p>
        </p:txBody>
      </p:sp>
      <p:sp>
        <p:nvSpPr>
          <p:cNvPr id="7" name="Shape 5"/>
          <p:cNvSpPr/>
          <p:nvPr/>
        </p:nvSpPr>
        <p:spPr>
          <a:xfrm>
            <a:off x="914400" y="1874520"/>
            <a:ext cx="384048" cy="384048"/>
          </a:xfrm>
          <a:prstGeom prst="ellipse">
            <a:avLst/>
          </a:prstGeom>
          <a:solidFill>
            <a:srgbClr val="C8102E"/>
          </a:solidFill>
          <a:ln/>
        </p:spPr>
        <p:txBody>
          <a:bodyPr/>
          <a:lstStyle/>
          <a:p>
            <a:endParaRPr lang="en-GB"/>
          </a:p>
        </p:txBody>
      </p:sp>
      <p:sp>
        <p:nvSpPr>
          <p:cNvPr id="8" name="Text 6"/>
          <p:cNvSpPr/>
          <p:nvPr/>
        </p:nvSpPr>
        <p:spPr>
          <a:xfrm>
            <a:off x="914400" y="1874520"/>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p:nvPr/>
        </p:nvSpPr>
        <p:spPr>
          <a:xfrm>
            <a:off x="914400" y="2359152"/>
            <a:ext cx="1536192" cy="320040"/>
          </a:xfrm>
          <a:prstGeom prst="rect">
            <a:avLst/>
          </a:prstGeom>
          <a:noFill/>
          <a:ln/>
        </p:spPr>
        <p:txBody>
          <a:bodyPr wrap="square" lIns="0" tIns="0" rIns="0" bIns="0" rtlCol="0" anchor="ctr"/>
          <a:lstStyle/>
          <a:p>
            <a:pPr marL="0" indent="0">
              <a:buNone/>
            </a:pPr>
            <a:r>
              <a:rPr lang="en-US" sz="1450" b="1" dirty="0">
                <a:solidFill>
                  <a:srgbClr val="23262B"/>
                </a:solidFill>
                <a:latin typeface="Cambria" pitchFamily="34" charset="0"/>
                <a:ea typeface="Cambria" pitchFamily="34" charset="-122"/>
                <a:cs typeface="Cambria" pitchFamily="34" charset="-120"/>
              </a:rPr>
              <a:t>Bucket</a:t>
            </a:r>
            <a:endParaRPr lang="en-US" sz="1450" dirty="0"/>
          </a:p>
        </p:txBody>
      </p:sp>
      <p:sp>
        <p:nvSpPr>
          <p:cNvPr id="10" name="Text 8"/>
          <p:cNvSpPr/>
          <p:nvPr/>
        </p:nvSpPr>
        <p:spPr>
          <a:xfrm>
            <a:off x="914400" y="2697480"/>
            <a:ext cx="1536192" cy="365760"/>
          </a:xfrm>
          <a:prstGeom prst="rect">
            <a:avLst/>
          </a:prstGeom>
          <a:noFill/>
          <a:ln/>
        </p:spPr>
        <p:txBody>
          <a:bodyPr wrap="square" lIns="0" tIns="0" rIns="0" bIns="0" rtlCol="0" anchor="ctr"/>
          <a:lstStyle/>
          <a:p>
            <a:pPr marL="0" indent="0">
              <a:buNone/>
            </a:pPr>
            <a:r>
              <a:rPr lang="en-US" sz="1050" dirty="0">
                <a:solidFill>
                  <a:srgbClr val="6E767E"/>
                </a:solidFill>
                <a:latin typeface="Calibri" pitchFamily="34" charset="0"/>
                <a:ea typeface="Calibri" pitchFamily="34" charset="-122"/>
                <a:cs typeface="Calibri" pitchFamily="34" charset="-120"/>
              </a:rPr>
              <a:t>Six position groups</a:t>
            </a:r>
            <a:endParaRPr lang="en-US" sz="1050" dirty="0"/>
          </a:p>
        </p:txBody>
      </p:sp>
      <p:sp>
        <p:nvSpPr>
          <p:cNvPr id="11" name="Shape 9"/>
          <p:cNvSpPr/>
          <p:nvPr/>
        </p:nvSpPr>
        <p:spPr>
          <a:xfrm>
            <a:off x="2798064" y="1691640"/>
            <a:ext cx="1901952" cy="1417320"/>
          </a:xfrm>
          <a:prstGeom prst="roundRect">
            <a:avLst>
              <a:gd name="adj" fmla="val 3871"/>
            </a:avLst>
          </a:prstGeom>
          <a:solidFill>
            <a:srgbClr val="F4F5F7"/>
          </a:solidFill>
          <a:ln/>
          <a:effectLst>
            <a:outerShdw blurRad="88900" dist="38100" dir="5400000" algn="bl" rotWithShape="0">
              <a:srgbClr val="000000">
                <a:alpha val="12000"/>
              </a:srgbClr>
            </a:outerShdw>
          </a:effectLst>
        </p:spPr>
        <p:txBody>
          <a:bodyPr/>
          <a:lstStyle/>
          <a:p>
            <a:endParaRPr lang="en-GB"/>
          </a:p>
        </p:txBody>
      </p:sp>
      <p:sp>
        <p:nvSpPr>
          <p:cNvPr id="12" name="Shape 10"/>
          <p:cNvSpPr/>
          <p:nvPr/>
        </p:nvSpPr>
        <p:spPr>
          <a:xfrm>
            <a:off x="2999232" y="1874520"/>
            <a:ext cx="384048" cy="384048"/>
          </a:xfrm>
          <a:prstGeom prst="ellipse">
            <a:avLst/>
          </a:prstGeom>
          <a:solidFill>
            <a:srgbClr val="C8102E"/>
          </a:solidFill>
          <a:ln/>
        </p:spPr>
        <p:txBody>
          <a:bodyPr/>
          <a:lstStyle/>
          <a:p>
            <a:endParaRPr lang="en-GB"/>
          </a:p>
        </p:txBody>
      </p:sp>
      <p:sp>
        <p:nvSpPr>
          <p:cNvPr id="13" name="Text 11"/>
          <p:cNvSpPr/>
          <p:nvPr/>
        </p:nvSpPr>
        <p:spPr>
          <a:xfrm>
            <a:off x="2999232" y="1874520"/>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2999232" y="2359152"/>
            <a:ext cx="1536192" cy="320040"/>
          </a:xfrm>
          <a:prstGeom prst="rect">
            <a:avLst/>
          </a:prstGeom>
          <a:noFill/>
          <a:ln/>
        </p:spPr>
        <p:txBody>
          <a:bodyPr wrap="square" lIns="0" tIns="0" rIns="0" bIns="0" rtlCol="0" anchor="ctr"/>
          <a:lstStyle/>
          <a:p>
            <a:pPr marL="0" indent="0">
              <a:buNone/>
            </a:pPr>
            <a:r>
              <a:rPr lang="en-US" sz="1450" b="1" dirty="0">
                <a:solidFill>
                  <a:srgbClr val="23262B"/>
                </a:solidFill>
                <a:latin typeface="Cambria" pitchFamily="34" charset="0"/>
                <a:ea typeface="Cambria" pitchFamily="34" charset="-122"/>
                <a:cs typeface="Cambria" pitchFamily="34" charset="-120"/>
              </a:rPr>
              <a:t>Five metrics</a:t>
            </a:r>
            <a:endParaRPr lang="en-US" sz="1450" dirty="0"/>
          </a:p>
        </p:txBody>
      </p:sp>
      <p:sp>
        <p:nvSpPr>
          <p:cNvPr id="15" name="Text 13"/>
          <p:cNvSpPr/>
          <p:nvPr/>
        </p:nvSpPr>
        <p:spPr>
          <a:xfrm>
            <a:off x="2999232" y="2697480"/>
            <a:ext cx="1536192" cy="365760"/>
          </a:xfrm>
          <a:prstGeom prst="rect">
            <a:avLst/>
          </a:prstGeom>
          <a:noFill/>
          <a:ln/>
        </p:spPr>
        <p:txBody>
          <a:bodyPr wrap="square" lIns="0" tIns="0" rIns="0" bIns="0" rtlCol="0" anchor="ctr"/>
          <a:lstStyle/>
          <a:p>
            <a:pPr marL="0" indent="0">
              <a:buNone/>
            </a:pPr>
            <a:r>
              <a:rPr lang="en-US" sz="1050" dirty="0">
                <a:solidFill>
                  <a:srgbClr val="6E767E"/>
                </a:solidFill>
                <a:latin typeface="Calibri" pitchFamily="34" charset="0"/>
                <a:ea typeface="Calibri" pitchFamily="34" charset="-122"/>
                <a:cs typeface="Calibri" pitchFamily="34" charset="-120"/>
              </a:rPr>
              <a:t>Role-relevant per-90 stats</a:t>
            </a:r>
            <a:endParaRPr lang="en-US" sz="1050" dirty="0"/>
          </a:p>
        </p:txBody>
      </p:sp>
      <p:sp>
        <p:nvSpPr>
          <p:cNvPr id="16" name="Shape 14"/>
          <p:cNvSpPr/>
          <p:nvPr/>
        </p:nvSpPr>
        <p:spPr>
          <a:xfrm>
            <a:off x="4882896" y="1691640"/>
            <a:ext cx="1901952" cy="1417320"/>
          </a:xfrm>
          <a:prstGeom prst="roundRect">
            <a:avLst>
              <a:gd name="adj" fmla="val 3871"/>
            </a:avLst>
          </a:prstGeom>
          <a:solidFill>
            <a:srgbClr val="F4F5F7"/>
          </a:solidFill>
          <a:ln/>
          <a:effectLst>
            <a:outerShdw blurRad="88900" dist="38100" dir="5400000" algn="bl" rotWithShape="0">
              <a:srgbClr val="000000">
                <a:alpha val="12000"/>
              </a:srgbClr>
            </a:outerShdw>
          </a:effectLst>
        </p:spPr>
        <p:txBody>
          <a:bodyPr/>
          <a:lstStyle/>
          <a:p>
            <a:endParaRPr lang="en-GB"/>
          </a:p>
        </p:txBody>
      </p:sp>
      <p:sp>
        <p:nvSpPr>
          <p:cNvPr id="17" name="Shape 15"/>
          <p:cNvSpPr/>
          <p:nvPr/>
        </p:nvSpPr>
        <p:spPr>
          <a:xfrm>
            <a:off x="5084064" y="1874520"/>
            <a:ext cx="384048" cy="384048"/>
          </a:xfrm>
          <a:prstGeom prst="ellipse">
            <a:avLst/>
          </a:prstGeom>
          <a:solidFill>
            <a:srgbClr val="C8102E"/>
          </a:solidFill>
          <a:ln/>
        </p:spPr>
        <p:txBody>
          <a:bodyPr/>
          <a:lstStyle/>
          <a:p>
            <a:endParaRPr lang="en-GB"/>
          </a:p>
        </p:txBody>
      </p:sp>
      <p:sp>
        <p:nvSpPr>
          <p:cNvPr id="18" name="Text 16"/>
          <p:cNvSpPr/>
          <p:nvPr/>
        </p:nvSpPr>
        <p:spPr>
          <a:xfrm>
            <a:off x="5084064" y="1874520"/>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5084064" y="2359152"/>
            <a:ext cx="1536192" cy="320040"/>
          </a:xfrm>
          <a:prstGeom prst="rect">
            <a:avLst/>
          </a:prstGeom>
          <a:noFill/>
          <a:ln/>
        </p:spPr>
        <p:txBody>
          <a:bodyPr wrap="square" lIns="0" tIns="0" rIns="0" bIns="0" rtlCol="0" anchor="ctr"/>
          <a:lstStyle/>
          <a:p>
            <a:pPr marL="0" indent="0">
              <a:buNone/>
            </a:pPr>
            <a:r>
              <a:rPr lang="en-US" sz="1450" b="1" dirty="0">
                <a:solidFill>
                  <a:srgbClr val="23262B"/>
                </a:solidFill>
                <a:latin typeface="Cambria" pitchFamily="34" charset="0"/>
                <a:ea typeface="Cambria" pitchFamily="34" charset="-122"/>
                <a:cs typeface="Cambria" pitchFamily="34" charset="-120"/>
              </a:rPr>
              <a:t>Percentile rank</a:t>
            </a:r>
            <a:endParaRPr lang="en-US" sz="1450" dirty="0"/>
          </a:p>
        </p:txBody>
      </p:sp>
      <p:sp>
        <p:nvSpPr>
          <p:cNvPr id="20" name="Text 18"/>
          <p:cNvSpPr/>
          <p:nvPr/>
        </p:nvSpPr>
        <p:spPr>
          <a:xfrm>
            <a:off x="5084064" y="2697480"/>
            <a:ext cx="1536192" cy="365760"/>
          </a:xfrm>
          <a:prstGeom prst="rect">
            <a:avLst/>
          </a:prstGeom>
          <a:noFill/>
          <a:ln/>
        </p:spPr>
        <p:txBody>
          <a:bodyPr wrap="square" lIns="0" tIns="0" rIns="0" bIns="0" rtlCol="0" anchor="ctr"/>
          <a:lstStyle/>
          <a:p>
            <a:pPr marL="0" indent="0">
              <a:buNone/>
            </a:pPr>
            <a:r>
              <a:rPr lang="en-US" sz="1050" dirty="0">
                <a:solidFill>
                  <a:srgbClr val="6E767E"/>
                </a:solidFill>
                <a:latin typeface="Calibri" pitchFamily="34" charset="0"/>
                <a:ea typeface="Calibri" pitchFamily="34" charset="-122"/>
                <a:cs typeface="Calibri" pitchFamily="34" charset="-120"/>
              </a:rPr>
              <a:t>0–100 vs the same position</a:t>
            </a:r>
            <a:endParaRPr lang="en-US" sz="1050" dirty="0"/>
          </a:p>
        </p:txBody>
      </p:sp>
      <p:sp>
        <p:nvSpPr>
          <p:cNvPr id="21" name="Shape 19"/>
          <p:cNvSpPr/>
          <p:nvPr/>
        </p:nvSpPr>
        <p:spPr>
          <a:xfrm>
            <a:off x="6967728" y="1691640"/>
            <a:ext cx="1901952" cy="1417320"/>
          </a:xfrm>
          <a:prstGeom prst="roundRect">
            <a:avLst>
              <a:gd name="adj" fmla="val 3871"/>
            </a:avLst>
          </a:prstGeom>
          <a:solidFill>
            <a:srgbClr val="F4F5F7"/>
          </a:solidFill>
          <a:ln/>
          <a:effectLst>
            <a:outerShdw blurRad="88900" dist="38100" dir="5400000" algn="bl" rotWithShape="0">
              <a:srgbClr val="000000">
                <a:alpha val="12000"/>
              </a:srgbClr>
            </a:outerShdw>
          </a:effectLst>
        </p:spPr>
        <p:txBody>
          <a:bodyPr/>
          <a:lstStyle/>
          <a:p>
            <a:endParaRPr lang="en-GB"/>
          </a:p>
        </p:txBody>
      </p:sp>
      <p:sp>
        <p:nvSpPr>
          <p:cNvPr id="22" name="Shape 20"/>
          <p:cNvSpPr/>
          <p:nvPr/>
        </p:nvSpPr>
        <p:spPr>
          <a:xfrm>
            <a:off x="7168896" y="1874520"/>
            <a:ext cx="384048" cy="384048"/>
          </a:xfrm>
          <a:prstGeom prst="ellipse">
            <a:avLst/>
          </a:prstGeom>
          <a:solidFill>
            <a:srgbClr val="C8102E"/>
          </a:solidFill>
          <a:ln/>
        </p:spPr>
        <p:txBody>
          <a:bodyPr/>
          <a:lstStyle/>
          <a:p>
            <a:endParaRPr lang="en-GB"/>
          </a:p>
        </p:txBody>
      </p:sp>
      <p:sp>
        <p:nvSpPr>
          <p:cNvPr id="23" name="Text 21"/>
          <p:cNvSpPr/>
          <p:nvPr/>
        </p:nvSpPr>
        <p:spPr>
          <a:xfrm>
            <a:off x="7168896" y="1874520"/>
            <a:ext cx="38404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2"/>
          <p:cNvSpPr/>
          <p:nvPr/>
        </p:nvSpPr>
        <p:spPr>
          <a:xfrm>
            <a:off x="7168896" y="2359152"/>
            <a:ext cx="1536192" cy="320040"/>
          </a:xfrm>
          <a:prstGeom prst="rect">
            <a:avLst/>
          </a:prstGeom>
          <a:noFill/>
          <a:ln/>
        </p:spPr>
        <p:txBody>
          <a:bodyPr wrap="square" lIns="0" tIns="0" rIns="0" bIns="0" rtlCol="0" anchor="ctr"/>
          <a:lstStyle/>
          <a:p>
            <a:pPr marL="0" indent="0">
              <a:buNone/>
            </a:pPr>
            <a:r>
              <a:rPr lang="en-US" sz="1450" b="1" dirty="0">
                <a:solidFill>
                  <a:srgbClr val="23262B"/>
                </a:solidFill>
                <a:latin typeface="Cambria" pitchFamily="34" charset="0"/>
                <a:ea typeface="Cambria" pitchFamily="34" charset="-122"/>
                <a:cs typeface="Cambria" pitchFamily="34" charset="-120"/>
              </a:rPr>
              <a:t>Average</a:t>
            </a:r>
            <a:endParaRPr lang="en-US" sz="1450" dirty="0"/>
          </a:p>
        </p:txBody>
      </p:sp>
      <p:sp>
        <p:nvSpPr>
          <p:cNvPr id="25" name="Text 23"/>
          <p:cNvSpPr/>
          <p:nvPr/>
        </p:nvSpPr>
        <p:spPr>
          <a:xfrm>
            <a:off x="7168896" y="2697480"/>
            <a:ext cx="1536192" cy="365760"/>
          </a:xfrm>
          <a:prstGeom prst="rect">
            <a:avLst/>
          </a:prstGeom>
          <a:noFill/>
          <a:ln/>
        </p:spPr>
        <p:txBody>
          <a:bodyPr wrap="square" lIns="0" tIns="0" rIns="0" bIns="0" rtlCol="0" anchor="ctr"/>
          <a:lstStyle/>
          <a:p>
            <a:pPr marL="0" indent="0">
              <a:buNone/>
            </a:pPr>
            <a:r>
              <a:rPr lang="en-US" sz="1050" dirty="0">
                <a:solidFill>
                  <a:srgbClr val="6E767E"/>
                </a:solidFill>
                <a:latin typeface="Calibri" pitchFamily="34" charset="0"/>
                <a:ea typeface="Calibri" pitchFamily="34" charset="-122"/>
                <a:cs typeface="Calibri" pitchFamily="34" charset="-120"/>
              </a:rPr>
              <a:t>Mean of the five = Index</a:t>
            </a:r>
            <a:endParaRPr lang="en-US" sz="1050" dirty="0"/>
          </a:p>
        </p:txBody>
      </p:sp>
      <p:sp>
        <p:nvSpPr>
          <p:cNvPr id="26" name="Shape 24"/>
          <p:cNvSpPr/>
          <p:nvPr/>
        </p:nvSpPr>
        <p:spPr>
          <a:xfrm>
            <a:off x="713232" y="3337560"/>
            <a:ext cx="7973568" cy="640080"/>
          </a:xfrm>
          <a:prstGeom prst="roundRect">
            <a:avLst>
              <a:gd name="adj" fmla="val 7143"/>
            </a:avLst>
          </a:prstGeom>
          <a:solidFill>
            <a:srgbClr val="FBEAEC"/>
          </a:solidFill>
          <a:ln/>
        </p:spPr>
        <p:txBody>
          <a:bodyPr/>
          <a:lstStyle/>
          <a:p>
            <a:endParaRPr lang="en-GB"/>
          </a:p>
        </p:txBody>
      </p:sp>
      <p:sp>
        <p:nvSpPr>
          <p:cNvPr id="27" name="Text 25"/>
          <p:cNvSpPr/>
          <p:nvPr/>
        </p:nvSpPr>
        <p:spPr>
          <a:xfrm>
            <a:off x="914400" y="3337560"/>
            <a:ext cx="7589520" cy="640080"/>
          </a:xfrm>
          <a:prstGeom prst="rect">
            <a:avLst/>
          </a:prstGeom>
          <a:noFill/>
          <a:ln/>
        </p:spPr>
        <p:txBody>
          <a:bodyPr wrap="square" lIns="0" tIns="0" rIns="0" bIns="0" rtlCol="0" anchor="ctr"/>
          <a:lstStyle/>
          <a:p>
            <a:pPr marL="0" indent="0">
              <a:buNone/>
            </a:pPr>
            <a:r>
              <a:rPr lang="en-US" sz="1250" b="1" dirty="0">
                <a:solidFill>
                  <a:srgbClr val="C8102E"/>
                </a:solidFill>
                <a:latin typeface="Calibri" pitchFamily="34" charset="0"/>
                <a:ea typeface="Calibri" pitchFamily="34" charset="-122"/>
                <a:cs typeface="Calibri" pitchFamily="34" charset="-120"/>
              </a:rPr>
              <a:t>Striker metrics:  </a:t>
            </a:r>
            <a:r>
              <a:rPr lang="en-US" sz="1250" dirty="0">
                <a:solidFill>
                  <a:srgbClr val="23262B"/>
                </a:solidFill>
                <a:latin typeface="Calibri" pitchFamily="34" charset="0"/>
                <a:ea typeface="Calibri" pitchFamily="34" charset="-122"/>
                <a:cs typeface="Calibri" pitchFamily="34" charset="-120"/>
              </a:rPr>
              <a:t>npxG/90  ·  Non-Pen Goals/90  ·  xAG/90  ·  Assists/90  ·  Progressive Receptions/90</a:t>
            </a:r>
            <a:endParaRPr lang="en-US" sz="1250" dirty="0"/>
          </a:p>
        </p:txBody>
      </p:sp>
      <p:sp>
        <p:nvSpPr>
          <p:cNvPr id="28" name="Text 26"/>
          <p:cNvSpPr/>
          <p:nvPr/>
        </p:nvSpPr>
        <p:spPr>
          <a:xfrm>
            <a:off x="713232" y="4160520"/>
            <a:ext cx="7955280" cy="320040"/>
          </a:xfrm>
          <a:prstGeom prst="rect">
            <a:avLst/>
          </a:prstGeom>
          <a:noFill/>
          <a:ln/>
        </p:spPr>
        <p:txBody>
          <a:bodyPr wrap="square" lIns="0" tIns="0" rIns="0" bIns="0" rtlCol="0" anchor="ctr"/>
          <a:lstStyle/>
          <a:p>
            <a:pPr marL="0" indent="0">
              <a:buNone/>
            </a:pPr>
            <a:r>
              <a:rPr lang="en-US" sz="1050" i="1" dirty="0">
                <a:solidFill>
                  <a:srgbClr val="6E767E"/>
                </a:solidFill>
                <a:latin typeface="Calibri" pitchFamily="34" charset="0"/>
                <a:ea typeface="Calibri" pitchFamily="34" charset="-122"/>
                <a:cs typeface="Calibri" pitchFamily="34" charset="-120"/>
              </a:rPr>
              <a:t>Per-90, not totals  ·  450-minute minimum  ·  deliberately simple, so it's explainable to a non-technical recruiter.</a:t>
            </a:r>
            <a:endParaRPr lang="en-US" sz="1050" dirty="0"/>
          </a:p>
        </p:txBody>
      </p:sp>
      <p:sp>
        <p:nvSpPr>
          <p:cNvPr id="29" name="Text 27"/>
          <p:cNvSpPr/>
          <p:nvPr/>
        </p:nvSpPr>
        <p:spPr>
          <a:xfrm>
            <a:off x="457200" y="4855464"/>
            <a:ext cx="5486400" cy="201168"/>
          </a:xfrm>
          <a:prstGeom prst="rect">
            <a:avLst/>
          </a:prstGeom>
          <a:noFill/>
          <a:ln/>
        </p:spPr>
        <p:txBody>
          <a:bodyPr wrap="square" lIns="0" tIns="0" rIns="0" bIns="0" rtlCol="0" anchor="ctr"/>
          <a:lstStyle/>
          <a:p>
            <a:pPr marL="0" indent="0">
              <a:buNone/>
            </a:pPr>
            <a:r>
              <a:rPr lang="en-US" sz="800" dirty="0">
                <a:solidFill>
                  <a:srgbClr val="6E767E"/>
                </a:solidFill>
                <a:latin typeface="Calibri" pitchFamily="34" charset="0"/>
                <a:ea typeface="Calibri" pitchFamily="34" charset="-122"/>
                <a:cs typeface="Calibri" pitchFamily="34" charset="-120"/>
              </a:rPr>
              <a:t>Brentford FC  ·  Head of Recruitment Dashboard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191D"/>
        </a:solidFill>
        <a:effectLst/>
      </p:bgPr>
    </p:bg>
    <p:spTree>
      <p:nvGrpSpPr>
        <p:cNvPr id="1" name=""/>
        <p:cNvGrpSpPr/>
        <p:nvPr/>
      </p:nvGrpSpPr>
      <p:grpSpPr>
        <a:xfrm>
          <a:off x="0" y="0"/>
          <a:ext cx="0" cy="0"/>
          <a:chOff x="0" y="0"/>
          <a:chExt cx="0" cy="0"/>
        </a:xfrm>
      </p:grpSpPr>
      <p:sp>
        <p:nvSpPr>
          <p:cNvPr id="2" name="Shape 0"/>
          <p:cNvSpPr/>
          <p:nvPr/>
        </p:nvSpPr>
        <p:spPr>
          <a:xfrm>
            <a:off x="7406640" y="3383280"/>
            <a:ext cx="3291840" cy="3291840"/>
          </a:xfrm>
          <a:prstGeom prst="ellipse">
            <a:avLst/>
          </a:prstGeom>
          <a:solidFill>
            <a:srgbClr val="C8102E">
              <a:alpha val="14000"/>
            </a:srgbClr>
          </a:solidFill>
          <a:ln/>
        </p:spPr>
        <p:txBody>
          <a:bodyPr/>
          <a:lstStyle/>
          <a:p>
            <a:endParaRPr lang="en-GB"/>
          </a:p>
        </p:txBody>
      </p:sp>
      <p:sp>
        <p:nvSpPr>
          <p:cNvPr id="3" name="Shape 1"/>
          <p:cNvSpPr/>
          <p:nvPr/>
        </p:nvSpPr>
        <p:spPr>
          <a:xfrm>
            <a:off x="8595360" y="-914400"/>
            <a:ext cx="2011680" cy="2011680"/>
          </a:xfrm>
          <a:prstGeom prst="ellipse">
            <a:avLst/>
          </a:prstGeom>
          <a:solidFill>
            <a:srgbClr val="C8102E">
              <a:alpha val="10000"/>
            </a:srgbClr>
          </a:solidFill>
          <a:ln/>
        </p:spPr>
        <p:txBody>
          <a:bodyPr/>
          <a:lstStyle/>
          <a:p>
            <a:endParaRPr lang="en-GB"/>
          </a:p>
        </p:txBody>
      </p:sp>
      <p:sp>
        <p:nvSpPr>
          <p:cNvPr id="4" name="Shape 2"/>
          <p:cNvSpPr/>
          <p:nvPr/>
        </p:nvSpPr>
        <p:spPr>
          <a:xfrm>
            <a:off x="777240" y="1234440"/>
            <a:ext cx="164592" cy="164592"/>
          </a:xfrm>
          <a:prstGeom prst="ellipse">
            <a:avLst/>
          </a:prstGeom>
          <a:solidFill>
            <a:srgbClr val="C8102E"/>
          </a:solidFill>
          <a:ln/>
        </p:spPr>
        <p:txBody>
          <a:bodyPr/>
          <a:lstStyle/>
          <a:p>
            <a:endParaRPr lang="en-GB"/>
          </a:p>
        </p:txBody>
      </p:sp>
      <p:sp>
        <p:nvSpPr>
          <p:cNvPr id="5" name="Text 3"/>
          <p:cNvSpPr/>
          <p:nvPr/>
        </p:nvSpPr>
        <p:spPr>
          <a:xfrm>
            <a:off x="1051560" y="1188720"/>
            <a:ext cx="6400800" cy="274320"/>
          </a:xfrm>
          <a:prstGeom prst="rect">
            <a:avLst/>
          </a:prstGeom>
          <a:noFill/>
          <a:ln/>
        </p:spPr>
        <p:txBody>
          <a:bodyPr wrap="square" lIns="0" tIns="0" rIns="0" bIns="0" rtlCol="0" anchor="ctr"/>
          <a:lstStyle/>
          <a:p>
            <a:pPr marL="0" indent="0">
              <a:buNone/>
            </a:pPr>
            <a:r>
              <a:rPr lang="en-US" sz="1100" b="1" kern="0" spc="200" dirty="0">
                <a:solidFill>
                  <a:srgbClr val="B9BEC4"/>
                </a:solidFill>
                <a:latin typeface="Calibri" pitchFamily="34" charset="0"/>
                <a:ea typeface="Calibri" pitchFamily="34" charset="-122"/>
                <a:cs typeface="Calibri" pitchFamily="34" charset="-120"/>
              </a:rPr>
              <a:t>THE BRIEF  ·  DEMO SCENARIO</a:t>
            </a:r>
            <a:endParaRPr lang="en-US" sz="1100" dirty="0"/>
          </a:p>
        </p:txBody>
      </p:sp>
      <p:sp>
        <p:nvSpPr>
          <p:cNvPr id="6" name="Text 4"/>
          <p:cNvSpPr/>
          <p:nvPr/>
        </p:nvSpPr>
        <p:spPr>
          <a:xfrm>
            <a:off x="777240" y="1600200"/>
            <a:ext cx="45720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Two strikers</a:t>
            </a:r>
            <a:endParaRPr lang="en-US" sz="4400" dirty="0"/>
          </a:p>
        </p:txBody>
      </p:sp>
      <p:sp>
        <p:nvSpPr>
          <p:cNvPr id="7" name="Text 5"/>
          <p:cNvSpPr/>
          <p:nvPr/>
        </p:nvSpPr>
        <p:spPr>
          <a:xfrm>
            <a:off x="804672" y="2606040"/>
            <a:ext cx="4206240" cy="731520"/>
          </a:xfrm>
          <a:prstGeom prst="rect">
            <a:avLst/>
          </a:prstGeom>
          <a:noFill/>
          <a:ln/>
        </p:spPr>
        <p:txBody>
          <a:bodyPr wrap="square" lIns="0" tIns="0" rIns="0" bIns="0" rtlCol="0" anchor="ctr"/>
          <a:lstStyle/>
          <a:p>
            <a:pPr marL="0" indent="0">
              <a:buNone/>
            </a:pPr>
            <a:r>
              <a:rPr lang="en-US" sz="1500" i="1" dirty="0">
                <a:solidFill>
                  <a:srgbClr val="C7CCD2"/>
                </a:solidFill>
                <a:latin typeface="Cambria" pitchFamily="34" charset="0"/>
                <a:ea typeface="Cambria" pitchFamily="34" charset="-122"/>
                <a:cs typeface="Cambria" pitchFamily="34" charset="-120"/>
              </a:rPr>
              <a:t>The coach's request - answered with the dashboard.</a:t>
            </a:r>
            <a:endParaRPr lang="en-US" sz="1500" dirty="0"/>
          </a:p>
        </p:txBody>
      </p:sp>
      <p:sp>
        <p:nvSpPr>
          <p:cNvPr id="8" name="Shape 6"/>
          <p:cNvSpPr/>
          <p:nvPr/>
        </p:nvSpPr>
        <p:spPr>
          <a:xfrm>
            <a:off x="5532120" y="1700784"/>
            <a:ext cx="146304" cy="146304"/>
          </a:xfrm>
          <a:prstGeom prst="ellipse">
            <a:avLst/>
          </a:prstGeom>
          <a:solidFill>
            <a:srgbClr val="C8102E"/>
          </a:solidFill>
          <a:ln/>
        </p:spPr>
        <p:txBody>
          <a:bodyPr/>
          <a:lstStyle/>
          <a:p>
            <a:endParaRPr lang="en-GB"/>
          </a:p>
        </p:txBody>
      </p:sp>
      <p:sp>
        <p:nvSpPr>
          <p:cNvPr id="9" name="Text 7"/>
          <p:cNvSpPr/>
          <p:nvPr/>
        </p:nvSpPr>
        <p:spPr>
          <a:xfrm>
            <a:off x="5806440" y="1627632"/>
            <a:ext cx="2926080" cy="365760"/>
          </a:xfrm>
          <a:prstGeom prst="rect">
            <a:avLst/>
          </a:prstGeom>
          <a:noFill/>
          <a:ln/>
        </p:spPr>
        <p:txBody>
          <a:bodyPr wrap="square" lIns="0" tIns="0" rIns="0" bIns="0" rtlCol="0" anchor="ctr"/>
          <a:lstStyle/>
          <a:p>
            <a:pPr marL="0" indent="0">
              <a:buNone/>
            </a:pPr>
            <a:r>
              <a:rPr lang="en-US" sz="1650" dirty="0">
                <a:solidFill>
                  <a:srgbClr val="FFFFFF"/>
                </a:solidFill>
                <a:latin typeface="Calibri" pitchFamily="34" charset="0"/>
                <a:ea typeface="Calibri" pitchFamily="34" charset="-122"/>
                <a:cs typeface="Calibri" pitchFamily="34" charset="-120"/>
              </a:rPr>
              <a:t>26 or younger</a:t>
            </a:r>
            <a:endParaRPr lang="en-US" sz="1650" dirty="0"/>
          </a:p>
        </p:txBody>
      </p:sp>
      <p:sp>
        <p:nvSpPr>
          <p:cNvPr id="10" name="Shape 8"/>
          <p:cNvSpPr/>
          <p:nvPr/>
        </p:nvSpPr>
        <p:spPr>
          <a:xfrm>
            <a:off x="5532120" y="2267712"/>
            <a:ext cx="146304" cy="146304"/>
          </a:xfrm>
          <a:prstGeom prst="ellipse">
            <a:avLst/>
          </a:prstGeom>
          <a:solidFill>
            <a:srgbClr val="C8102E"/>
          </a:solidFill>
          <a:ln/>
        </p:spPr>
        <p:txBody>
          <a:bodyPr/>
          <a:lstStyle/>
          <a:p>
            <a:endParaRPr lang="en-GB"/>
          </a:p>
        </p:txBody>
      </p:sp>
      <p:sp>
        <p:nvSpPr>
          <p:cNvPr id="11" name="Text 9"/>
          <p:cNvSpPr/>
          <p:nvPr/>
        </p:nvSpPr>
        <p:spPr>
          <a:xfrm>
            <a:off x="5806440" y="2194560"/>
            <a:ext cx="2926080" cy="365760"/>
          </a:xfrm>
          <a:prstGeom prst="rect">
            <a:avLst/>
          </a:prstGeom>
          <a:noFill/>
          <a:ln/>
        </p:spPr>
        <p:txBody>
          <a:bodyPr wrap="square" lIns="0" tIns="0" rIns="0" bIns="0" rtlCol="0" anchor="ctr"/>
          <a:lstStyle/>
          <a:p>
            <a:pPr marL="0" indent="0">
              <a:buNone/>
            </a:pPr>
            <a:r>
              <a:rPr lang="en-US" sz="1650" dirty="0">
                <a:solidFill>
                  <a:srgbClr val="FFFFFF"/>
                </a:solidFill>
                <a:latin typeface="Calibri" pitchFamily="34" charset="0"/>
                <a:ea typeface="Calibri" pitchFamily="34" charset="-122"/>
                <a:cs typeface="Calibri" pitchFamily="34" charset="-120"/>
              </a:rPr>
              <a:t>≤ €40M combined</a:t>
            </a:r>
            <a:endParaRPr lang="en-US" sz="1650" dirty="0"/>
          </a:p>
        </p:txBody>
      </p:sp>
      <p:sp>
        <p:nvSpPr>
          <p:cNvPr id="12" name="Shape 10"/>
          <p:cNvSpPr/>
          <p:nvPr/>
        </p:nvSpPr>
        <p:spPr>
          <a:xfrm>
            <a:off x="5532120" y="2834640"/>
            <a:ext cx="146304" cy="146304"/>
          </a:xfrm>
          <a:prstGeom prst="ellipse">
            <a:avLst/>
          </a:prstGeom>
          <a:solidFill>
            <a:srgbClr val="C8102E"/>
          </a:solidFill>
          <a:ln/>
        </p:spPr>
        <p:txBody>
          <a:bodyPr/>
          <a:lstStyle/>
          <a:p>
            <a:endParaRPr lang="en-GB"/>
          </a:p>
        </p:txBody>
      </p:sp>
      <p:sp>
        <p:nvSpPr>
          <p:cNvPr id="13" name="Text 11"/>
          <p:cNvSpPr/>
          <p:nvPr/>
        </p:nvSpPr>
        <p:spPr>
          <a:xfrm>
            <a:off x="5806440" y="2761488"/>
            <a:ext cx="2926080" cy="365760"/>
          </a:xfrm>
          <a:prstGeom prst="rect">
            <a:avLst/>
          </a:prstGeom>
          <a:noFill/>
          <a:ln/>
        </p:spPr>
        <p:txBody>
          <a:bodyPr wrap="square" lIns="0" tIns="0" rIns="0" bIns="0" rtlCol="0" anchor="ctr"/>
          <a:lstStyle/>
          <a:p>
            <a:pPr marL="0" indent="0">
              <a:buNone/>
            </a:pPr>
            <a:r>
              <a:rPr lang="en-US" sz="1650" dirty="0">
                <a:solidFill>
                  <a:srgbClr val="FFFFFF"/>
                </a:solidFill>
                <a:latin typeface="Calibri" pitchFamily="34" charset="0"/>
                <a:ea typeface="Calibri" pitchFamily="34" charset="-122"/>
                <a:cs typeface="Calibri" pitchFamily="34" charset="-120"/>
              </a:rPr>
              <a:t>12+ games last season</a:t>
            </a:r>
            <a:endParaRPr lang="en-US" sz="1650" dirty="0"/>
          </a:p>
        </p:txBody>
      </p:sp>
      <p:sp>
        <p:nvSpPr>
          <p:cNvPr id="14" name="Shape 12"/>
          <p:cNvSpPr/>
          <p:nvPr/>
        </p:nvSpPr>
        <p:spPr>
          <a:xfrm>
            <a:off x="5532120" y="3401568"/>
            <a:ext cx="146304" cy="146304"/>
          </a:xfrm>
          <a:prstGeom prst="ellipse">
            <a:avLst/>
          </a:prstGeom>
          <a:solidFill>
            <a:srgbClr val="C8102E"/>
          </a:solidFill>
          <a:ln/>
        </p:spPr>
        <p:txBody>
          <a:bodyPr/>
          <a:lstStyle/>
          <a:p>
            <a:endParaRPr lang="en-GB"/>
          </a:p>
        </p:txBody>
      </p:sp>
      <p:sp>
        <p:nvSpPr>
          <p:cNvPr id="15" name="Text 13"/>
          <p:cNvSpPr/>
          <p:nvPr/>
        </p:nvSpPr>
        <p:spPr>
          <a:xfrm>
            <a:off x="5806440" y="3328416"/>
            <a:ext cx="2926080" cy="365760"/>
          </a:xfrm>
          <a:prstGeom prst="rect">
            <a:avLst/>
          </a:prstGeom>
          <a:noFill/>
          <a:ln/>
        </p:spPr>
        <p:txBody>
          <a:bodyPr wrap="square" lIns="0" tIns="0" rIns="0" bIns="0" rtlCol="0" anchor="ctr"/>
          <a:lstStyle/>
          <a:p>
            <a:pPr marL="0" indent="0">
              <a:buNone/>
            </a:pPr>
            <a:r>
              <a:rPr lang="en-US" sz="1650" dirty="0">
                <a:solidFill>
                  <a:srgbClr val="FFFFFF"/>
                </a:solidFill>
                <a:latin typeface="Calibri" pitchFamily="34" charset="0"/>
                <a:ea typeface="Calibri" pitchFamily="34" charset="-122"/>
                <a:cs typeface="Calibri" pitchFamily="34" charset="-120"/>
              </a:rPr>
              <a:t>Performing above their price</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ellipse">
            <a:avLst/>
          </a:prstGeom>
          <a:solidFill>
            <a:srgbClr val="C8102E"/>
          </a:solidFill>
          <a:ln/>
        </p:spPr>
        <p:txBody>
          <a:bodyPr/>
          <a:lstStyle/>
          <a:p>
            <a:endParaRPr lang="en-GB"/>
          </a:p>
        </p:txBody>
      </p:sp>
      <p:sp>
        <p:nvSpPr>
          <p:cNvPr id="3" name="Text 1"/>
          <p:cNvSpPr/>
          <p:nvPr/>
        </p:nvSpPr>
        <p:spPr>
          <a:xfrm>
            <a:off x="713232" y="274320"/>
            <a:ext cx="7955280" cy="502920"/>
          </a:xfrm>
          <a:prstGeom prst="rect">
            <a:avLst/>
          </a:prstGeom>
          <a:noFill/>
          <a:ln/>
        </p:spPr>
        <p:txBody>
          <a:bodyPr wrap="square" lIns="0" tIns="0" rIns="0" bIns="0" rtlCol="0" anchor="ctr"/>
          <a:lstStyle/>
          <a:p>
            <a:pPr marL="0" indent="0">
              <a:buNone/>
            </a:pPr>
            <a:r>
              <a:rPr lang="en-US" sz="2900" b="1" dirty="0">
                <a:solidFill>
                  <a:srgbClr val="23262B"/>
                </a:solidFill>
                <a:latin typeface="Cambria" pitchFamily="34" charset="0"/>
                <a:ea typeface="Cambria" pitchFamily="34" charset="-122"/>
                <a:cs typeface="Cambria" pitchFamily="34" charset="-120"/>
              </a:rPr>
              <a:t>Demo · Where's the talent?</a:t>
            </a:r>
            <a:endParaRPr lang="en-US" sz="2900" dirty="0"/>
          </a:p>
        </p:txBody>
      </p:sp>
      <p:sp>
        <p:nvSpPr>
          <p:cNvPr id="4" name="Text 2"/>
          <p:cNvSpPr/>
          <p:nvPr/>
        </p:nvSpPr>
        <p:spPr>
          <a:xfrm>
            <a:off x="713232" y="749808"/>
            <a:ext cx="7315200" cy="201168"/>
          </a:xfrm>
          <a:prstGeom prst="rect">
            <a:avLst/>
          </a:prstGeom>
          <a:noFill/>
          <a:ln/>
        </p:spPr>
        <p:txBody>
          <a:bodyPr wrap="square" lIns="0" tIns="0" rIns="0" bIns="0" rtlCol="0" anchor="ctr"/>
          <a:lstStyle/>
          <a:p>
            <a:pPr marL="0" indent="0">
              <a:buNone/>
            </a:pPr>
            <a:r>
              <a:rPr lang="en-US" sz="950" b="1" kern="0" spc="200" dirty="0">
                <a:solidFill>
                  <a:srgbClr val="C8102E"/>
                </a:solidFill>
                <a:latin typeface="Calibri" pitchFamily="34" charset="0"/>
                <a:ea typeface="Calibri" pitchFamily="34" charset="-122"/>
                <a:cs typeface="Calibri" pitchFamily="34" charset="-120"/>
              </a:rPr>
              <a:t>NATIONALITY TALENT MAP</a:t>
            </a:r>
            <a:endParaRPr lang="en-US" sz="950" dirty="0"/>
          </a:p>
        </p:txBody>
      </p:sp>
      <p:sp>
        <p:nvSpPr>
          <p:cNvPr id="5" name="Shape 3"/>
          <p:cNvSpPr/>
          <p:nvPr/>
        </p:nvSpPr>
        <p:spPr>
          <a:xfrm>
            <a:off x="448056" y="1042416"/>
            <a:ext cx="5188031" cy="3493008"/>
          </a:xfrm>
          <a:prstGeom prst="rect">
            <a:avLst/>
          </a:prstGeom>
          <a:solidFill>
            <a:srgbClr val="FFFFFF"/>
          </a:solidFill>
          <a:ln w="12700">
            <a:solidFill>
              <a:srgbClr val="DDE0E4"/>
            </a:solidFill>
            <a:prstDash val="solid"/>
          </a:ln>
          <a:effectLst>
            <a:outerShdw blurRad="114300" dist="38100" dir="5400000" algn="bl" rotWithShape="0">
              <a:srgbClr val="000000">
                <a:alpha val="18000"/>
              </a:srgbClr>
            </a:outerShdw>
          </a:effectLst>
        </p:spPr>
        <p:txBody>
          <a:bodyPr/>
          <a:lstStyle/>
          <a:p>
            <a:endParaRPr lang="en-GB"/>
          </a:p>
        </p:txBody>
      </p:sp>
      <p:pic>
        <p:nvPicPr>
          <p:cNvPr id="6" name="Image 0" descr="img/p1_brazil.png"/>
          <p:cNvPicPr>
            <a:picLocks noChangeAspect="1"/>
          </p:cNvPicPr>
          <p:nvPr/>
        </p:nvPicPr>
        <p:blipFill>
          <a:blip r:embed="rId3"/>
          <a:stretch>
            <a:fillRect/>
          </a:stretch>
        </p:blipFill>
        <p:spPr>
          <a:xfrm>
            <a:off x="502920" y="1097280"/>
            <a:ext cx="5078303" cy="3383280"/>
          </a:xfrm>
          <a:prstGeom prst="rect">
            <a:avLst/>
          </a:prstGeom>
        </p:spPr>
      </p:pic>
      <p:sp>
        <p:nvSpPr>
          <p:cNvPr id="7" name="Shape 4"/>
          <p:cNvSpPr/>
          <p:nvPr/>
        </p:nvSpPr>
        <p:spPr>
          <a:xfrm>
            <a:off x="5946983" y="1280160"/>
            <a:ext cx="118872" cy="118872"/>
          </a:xfrm>
          <a:prstGeom prst="ellipse">
            <a:avLst/>
          </a:prstGeom>
          <a:solidFill>
            <a:srgbClr val="C8102E"/>
          </a:solidFill>
          <a:ln/>
        </p:spPr>
        <p:txBody>
          <a:bodyPr/>
          <a:lstStyle/>
          <a:p>
            <a:endParaRPr lang="en-GB"/>
          </a:p>
        </p:txBody>
      </p:sp>
      <p:sp>
        <p:nvSpPr>
          <p:cNvPr id="8" name="Text 5"/>
          <p:cNvSpPr/>
          <p:nvPr/>
        </p:nvSpPr>
        <p:spPr>
          <a:xfrm>
            <a:off x="6193871" y="1216152"/>
            <a:ext cx="2468880" cy="822960"/>
          </a:xfrm>
          <a:prstGeom prst="rect">
            <a:avLst/>
          </a:prstGeom>
          <a:noFill/>
          <a:ln/>
        </p:spPr>
        <p:txBody>
          <a:bodyPr wrap="square" lIns="0" tIns="0" rIns="0" bIns="0" rtlCol="0" anchor="t"/>
          <a:lstStyle/>
          <a:p>
            <a:pPr marL="0" indent="0">
              <a:buNone/>
            </a:pPr>
            <a:r>
              <a:rPr lang="en-US" sz="1300" dirty="0">
                <a:solidFill>
                  <a:srgbClr val="23262B"/>
                </a:solidFill>
                <a:latin typeface="Calibri" pitchFamily="34" charset="0"/>
                <a:ea typeface="Calibri" pitchFamily="34" charset="-122"/>
                <a:cs typeface="Calibri" pitchFamily="34" charset="-120"/>
              </a:rPr>
              <a:t>Click a country → see its trend</a:t>
            </a:r>
            <a:endParaRPr lang="en-US" sz="1300" dirty="0"/>
          </a:p>
        </p:txBody>
      </p:sp>
      <p:sp>
        <p:nvSpPr>
          <p:cNvPr id="9" name="Shape 6"/>
          <p:cNvSpPr/>
          <p:nvPr/>
        </p:nvSpPr>
        <p:spPr>
          <a:xfrm>
            <a:off x="5946983" y="2194560"/>
            <a:ext cx="118872" cy="118872"/>
          </a:xfrm>
          <a:prstGeom prst="ellipse">
            <a:avLst/>
          </a:prstGeom>
          <a:solidFill>
            <a:srgbClr val="C8102E"/>
          </a:solidFill>
          <a:ln/>
        </p:spPr>
        <p:txBody>
          <a:bodyPr/>
          <a:lstStyle/>
          <a:p>
            <a:endParaRPr lang="en-GB"/>
          </a:p>
        </p:txBody>
      </p:sp>
      <p:sp>
        <p:nvSpPr>
          <p:cNvPr id="10" name="Text 7"/>
          <p:cNvSpPr/>
          <p:nvPr/>
        </p:nvSpPr>
        <p:spPr>
          <a:xfrm>
            <a:off x="6193871" y="2130552"/>
            <a:ext cx="2468880" cy="822960"/>
          </a:xfrm>
          <a:prstGeom prst="rect">
            <a:avLst/>
          </a:prstGeom>
          <a:noFill/>
          <a:ln/>
        </p:spPr>
        <p:txBody>
          <a:bodyPr wrap="square" lIns="0" tIns="0" rIns="0" bIns="0" rtlCol="0" anchor="t"/>
          <a:lstStyle/>
          <a:p>
            <a:pPr marL="0" indent="0">
              <a:buNone/>
            </a:pPr>
            <a:r>
              <a:rPr lang="en-US" sz="1300" dirty="0">
                <a:solidFill>
                  <a:srgbClr val="23262B"/>
                </a:solidFill>
                <a:latin typeface="Calibri" pitchFamily="34" charset="0"/>
                <a:ea typeface="Calibri" pitchFamily="34" charset="-122"/>
                <a:cs typeface="Calibri" pitchFamily="34" charset="-120"/>
              </a:rPr>
              <a:t>Brazil: top-tier and rising</a:t>
            </a:r>
            <a:endParaRPr lang="en-US" sz="1300" dirty="0"/>
          </a:p>
        </p:txBody>
      </p:sp>
      <p:sp>
        <p:nvSpPr>
          <p:cNvPr id="11" name="Shape 8"/>
          <p:cNvSpPr/>
          <p:nvPr/>
        </p:nvSpPr>
        <p:spPr>
          <a:xfrm>
            <a:off x="5946983" y="3108960"/>
            <a:ext cx="118872" cy="118872"/>
          </a:xfrm>
          <a:prstGeom prst="ellipse">
            <a:avLst/>
          </a:prstGeom>
          <a:solidFill>
            <a:srgbClr val="C8102E"/>
          </a:solidFill>
          <a:ln/>
        </p:spPr>
        <p:txBody>
          <a:bodyPr/>
          <a:lstStyle/>
          <a:p>
            <a:endParaRPr lang="en-GB"/>
          </a:p>
        </p:txBody>
      </p:sp>
      <p:sp>
        <p:nvSpPr>
          <p:cNvPr id="12" name="Text 9"/>
          <p:cNvSpPr/>
          <p:nvPr/>
        </p:nvSpPr>
        <p:spPr>
          <a:xfrm>
            <a:off x="6193871" y="3044952"/>
            <a:ext cx="2468880" cy="822960"/>
          </a:xfrm>
          <a:prstGeom prst="rect">
            <a:avLst/>
          </a:prstGeom>
          <a:noFill/>
          <a:ln/>
        </p:spPr>
        <p:txBody>
          <a:bodyPr wrap="square" lIns="0" tIns="0" rIns="0" bIns="0" rtlCol="0" anchor="t"/>
          <a:lstStyle/>
          <a:p>
            <a:pPr marL="0" indent="0">
              <a:buNone/>
            </a:pPr>
            <a:r>
              <a:rPr lang="en-US" sz="1300" dirty="0">
                <a:solidFill>
                  <a:srgbClr val="23262B"/>
                </a:solidFill>
                <a:latin typeface="Calibri" pitchFamily="34" charset="0"/>
                <a:ea typeface="Calibri" pitchFamily="34" charset="-122"/>
                <a:cs typeface="Calibri" pitchFamily="34" charset="-120"/>
              </a:rPr>
              <a:t>A hunch, not yet proof</a:t>
            </a:r>
            <a:endParaRPr lang="en-US" sz="1300" dirty="0"/>
          </a:p>
        </p:txBody>
      </p:sp>
      <p:sp>
        <p:nvSpPr>
          <p:cNvPr id="13" name="Text 10"/>
          <p:cNvSpPr/>
          <p:nvPr/>
        </p:nvSpPr>
        <p:spPr>
          <a:xfrm>
            <a:off x="457200" y="4855464"/>
            <a:ext cx="5486400" cy="201168"/>
          </a:xfrm>
          <a:prstGeom prst="rect">
            <a:avLst/>
          </a:prstGeom>
          <a:noFill/>
          <a:ln/>
        </p:spPr>
        <p:txBody>
          <a:bodyPr wrap="square" lIns="0" tIns="0" rIns="0" bIns="0" rtlCol="0" anchor="ctr"/>
          <a:lstStyle/>
          <a:p>
            <a:pPr marL="0" indent="0">
              <a:buNone/>
            </a:pPr>
            <a:r>
              <a:rPr lang="en-US" sz="800" dirty="0">
                <a:solidFill>
                  <a:srgbClr val="6E767E"/>
                </a:solidFill>
                <a:latin typeface="Calibri" pitchFamily="34" charset="0"/>
                <a:ea typeface="Calibri" pitchFamily="34" charset="-122"/>
                <a:cs typeface="Calibri" pitchFamily="34" charset="-120"/>
              </a:rPr>
              <a:t>Brentford FC  ·  Head of Recruitment Dashboard</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ellipse">
            <a:avLst/>
          </a:prstGeom>
          <a:solidFill>
            <a:srgbClr val="C8102E"/>
          </a:solidFill>
          <a:ln/>
        </p:spPr>
        <p:txBody>
          <a:bodyPr/>
          <a:lstStyle/>
          <a:p>
            <a:endParaRPr lang="en-GB"/>
          </a:p>
        </p:txBody>
      </p:sp>
      <p:sp>
        <p:nvSpPr>
          <p:cNvPr id="3" name="Text 1"/>
          <p:cNvSpPr/>
          <p:nvPr/>
        </p:nvSpPr>
        <p:spPr>
          <a:xfrm>
            <a:off x="713232" y="274320"/>
            <a:ext cx="7955280" cy="502920"/>
          </a:xfrm>
          <a:prstGeom prst="rect">
            <a:avLst/>
          </a:prstGeom>
          <a:noFill/>
          <a:ln/>
        </p:spPr>
        <p:txBody>
          <a:bodyPr wrap="square" lIns="0" tIns="0" rIns="0" bIns="0" rtlCol="0" anchor="ctr"/>
          <a:lstStyle/>
          <a:p>
            <a:pPr marL="0" indent="0">
              <a:buNone/>
            </a:pPr>
            <a:r>
              <a:rPr lang="en-US" sz="2900" b="1" dirty="0">
                <a:solidFill>
                  <a:srgbClr val="23262B"/>
                </a:solidFill>
                <a:latin typeface="Cambria" pitchFamily="34" charset="0"/>
                <a:ea typeface="Cambria" pitchFamily="34" charset="-122"/>
                <a:cs typeface="Cambria" pitchFamily="34" charset="-120"/>
              </a:rPr>
              <a:t>Demo · Where can I afford quality?</a:t>
            </a:r>
            <a:endParaRPr lang="en-US" sz="2900" dirty="0"/>
          </a:p>
        </p:txBody>
      </p:sp>
      <p:sp>
        <p:nvSpPr>
          <p:cNvPr id="4" name="Text 2"/>
          <p:cNvSpPr/>
          <p:nvPr/>
        </p:nvSpPr>
        <p:spPr>
          <a:xfrm>
            <a:off x="713232" y="749808"/>
            <a:ext cx="7315200" cy="201168"/>
          </a:xfrm>
          <a:prstGeom prst="rect">
            <a:avLst/>
          </a:prstGeom>
          <a:noFill/>
          <a:ln/>
        </p:spPr>
        <p:txBody>
          <a:bodyPr wrap="square" lIns="0" tIns="0" rIns="0" bIns="0" rtlCol="0" anchor="ctr"/>
          <a:lstStyle/>
          <a:p>
            <a:pPr marL="0" indent="0">
              <a:buNone/>
            </a:pPr>
            <a:r>
              <a:rPr lang="en-US" sz="950" b="1" kern="0" spc="200" dirty="0">
                <a:solidFill>
                  <a:srgbClr val="C8102E"/>
                </a:solidFill>
                <a:latin typeface="Calibri" pitchFamily="34" charset="0"/>
                <a:ea typeface="Calibri" pitchFamily="34" charset="-122"/>
                <a:cs typeface="Calibri" pitchFamily="34" charset="-120"/>
              </a:rPr>
              <a:t>LEAGUE VALUE LANDSCAPE</a:t>
            </a:r>
            <a:endParaRPr lang="en-US" sz="950" dirty="0"/>
          </a:p>
        </p:txBody>
      </p:sp>
      <p:sp>
        <p:nvSpPr>
          <p:cNvPr id="5" name="Shape 3"/>
          <p:cNvSpPr/>
          <p:nvPr/>
        </p:nvSpPr>
        <p:spPr>
          <a:xfrm>
            <a:off x="448056" y="1088136"/>
            <a:ext cx="4158645" cy="2807208"/>
          </a:xfrm>
          <a:prstGeom prst="rect">
            <a:avLst/>
          </a:prstGeom>
          <a:solidFill>
            <a:srgbClr val="FFFFFF"/>
          </a:solidFill>
          <a:ln w="12700">
            <a:solidFill>
              <a:srgbClr val="DDE0E4"/>
            </a:solidFill>
            <a:prstDash val="solid"/>
          </a:ln>
          <a:effectLst>
            <a:outerShdw blurRad="114300" dist="38100" dir="5400000" algn="bl" rotWithShape="0">
              <a:srgbClr val="000000">
                <a:alpha val="18000"/>
              </a:srgbClr>
            </a:outerShdw>
          </a:effectLst>
        </p:spPr>
        <p:txBody>
          <a:bodyPr/>
          <a:lstStyle/>
          <a:p>
            <a:endParaRPr lang="en-GB"/>
          </a:p>
        </p:txBody>
      </p:sp>
      <p:pic>
        <p:nvPicPr>
          <p:cNvPr id="6" name="Image 0" descr="img/p2_allleagues.png"/>
          <p:cNvPicPr>
            <a:picLocks noChangeAspect="1"/>
          </p:cNvPicPr>
          <p:nvPr/>
        </p:nvPicPr>
        <p:blipFill>
          <a:blip r:embed="rId3"/>
          <a:stretch>
            <a:fillRect/>
          </a:stretch>
        </p:blipFill>
        <p:spPr>
          <a:xfrm>
            <a:off x="502920" y="1143000"/>
            <a:ext cx="4048917" cy="2697480"/>
          </a:xfrm>
          <a:prstGeom prst="rect">
            <a:avLst/>
          </a:prstGeom>
        </p:spPr>
      </p:pic>
      <p:sp>
        <p:nvSpPr>
          <p:cNvPr id="7" name="Shape 4"/>
          <p:cNvSpPr/>
          <p:nvPr/>
        </p:nvSpPr>
        <p:spPr>
          <a:xfrm>
            <a:off x="4862733" y="1088136"/>
            <a:ext cx="4158645" cy="2807208"/>
          </a:xfrm>
          <a:prstGeom prst="rect">
            <a:avLst/>
          </a:prstGeom>
          <a:solidFill>
            <a:srgbClr val="FFFFFF"/>
          </a:solidFill>
          <a:ln w="12700">
            <a:solidFill>
              <a:srgbClr val="DDE0E4"/>
            </a:solidFill>
            <a:prstDash val="solid"/>
          </a:ln>
          <a:effectLst>
            <a:outerShdw blurRad="114300" dist="38100" dir="5400000" algn="bl" rotWithShape="0">
              <a:srgbClr val="000000">
                <a:alpha val="18000"/>
              </a:srgbClr>
            </a:outerShdw>
          </a:effectLst>
        </p:spPr>
        <p:txBody>
          <a:bodyPr/>
          <a:lstStyle/>
          <a:p>
            <a:endParaRPr lang="en-GB"/>
          </a:p>
        </p:txBody>
      </p:sp>
      <p:pic>
        <p:nvPicPr>
          <p:cNvPr id="8" name="Image 1" descr="img/p2_big5.png"/>
          <p:cNvPicPr>
            <a:picLocks noChangeAspect="1"/>
          </p:cNvPicPr>
          <p:nvPr/>
        </p:nvPicPr>
        <p:blipFill>
          <a:blip r:embed="rId4"/>
          <a:stretch>
            <a:fillRect/>
          </a:stretch>
        </p:blipFill>
        <p:spPr>
          <a:xfrm>
            <a:off x="4917597" y="1143000"/>
            <a:ext cx="4048917" cy="2697480"/>
          </a:xfrm>
          <a:prstGeom prst="rect">
            <a:avLst/>
          </a:prstGeom>
        </p:spPr>
      </p:pic>
      <p:sp>
        <p:nvSpPr>
          <p:cNvPr id="9" name="Text 5"/>
          <p:cNvSpPr/>
          <p:nvPr/>
        </p:nvSpPr>
        <p:spPr>
          <a:xfrm>
            <a:off x="502920" y="3950208"/>
            <a:ext cx="4048917" cy="274320"/>
          </a:xfrm>
          <a:prstGeom prst="rect">
            <a:avLst/>
          </a:prstGeom>
          <a:noFill/>
          <a:ln/>
        </p:spPr>
        <p:txBody>
          <a:bodyPr wrap="square" lIns="0" tIns="0" rIns="0" bIns="0" rtlCol="0" anchor="ctr"/>
          <a:lstStyle/>
          <a:p>
            <a:pPr marL="0" indent="0" algn="ctr">
              <a:buNone/>
            </a:pPr>
            <a:r>
              <a:rPr lang="en-US" sz="1100" b="1" dirty="0">
                <a:solidFill>
                  <a:srgbClr val="6E767E"/>
                </a:solidFill>
                <a:latin typeface="Calibri" pitchFamily="34" charset="0"/>
                <a:ea typeface="Calibri" pitchFamily="34" charset="-122"/>
                <a:cs typeface="Calibri" pitchFamily="34" charset="-120"/>
              </a:rPr>
              <a:t>All leagues - FIFA estimate (rough)</a:t>
            </a:r>
            <a:endParaRPr lang="en-US" sz="1100" dirty="0"/>
          </a:p>
        </p:txBody>
      </p:sp>
      <p:sp>
        <p:nvSpPr>
          <p:cNvPr id="10" name="Text 6"/>
          <p:cNvSpPr/>
          <p:nvPr/>
        </p:nvSpPr>
        <p:spPr>
          <a:xfrm>
            <a:off x="4917597" y="3950208"/>
            <a:ext cx="4048917" cy="274320"/>
          </a:xfrm>
          <a:prstGeom prst="rect">
            <a:avLst/>
          </a:prstGeom>
          <a:noFill/>
          <a:ln/>
        </p:spPr>
        <p:txBody>
          <a:bodyPr wrap="square" lIns="0" tIns="0" rIns="0" bIns="0" rtlCol="0" anchor="ctr"/>
          <a:lstStyle/>
          <a:p>
            <a:pPr marL="0" indent="0" algn="ctr">
              <a:buNone/>
            </a:pPr>
            <a:r>
              <a:rPr lang="en-US" sz="1100" b="1" dirty="0">
                <a:solidFill>
                  <a:srgbClr val="C8102E"/>
                </a:solidFill>
                <a:latin typeface="Calibri" pitchFamily="34" charset="0"/>
                <a:ea typeface="Calibri" pitchFamily="34" charset="-122"/>
                <a:cs typeface="Calibri" pitchFamily="34" charset="-120"/>
              </a:rPr>
              <a:t>Big 5 - verified</a:t>
            </a:r>
            <a:endParaRPr lang="en-US" sz="1100" dirty="0"/>
          </a:p>
        </p:txBody>
      </p:sp>
      <p:sp>
        <p:nvSpPr>
          <p:cNvPr id="11" name="Text 7"/>
          <p:cNvSpPr/>
          <p:nvPr/>
        </p:nvSpPr>
        <p:spPr>
          <a:xfrm>
            <a:off x="502920" y="4370832"/>
            <a:ext cx="8138160" cy="411480"/>
          </a:xfrm>
          <a:prstGeom prst="rect">
            <a:avLst/>
          </a:prstGeom>
          <a:noFill/>
          <a:ln/>
        </p:spPr>
        <p:txBody>
          <a:bodyPr wrap="square" lIns="0" tIns="0" rIns="0" bIns="0" rtlCol="0" anchor="ctr"/>
          <a:lstStyle/>
          <a:p>
            <a:pPr marL="0" indent="0" algn="ctr">
              <a:buNone/>
            </a:pPr>
            <a:r>
              <a:rPr lang="en-US" sz="1250" b="1" dirty="0">
                <a:solidFill>
                  <a:srgbClr val="23262B"/>
                </a:solidFill>
                <a:latin typeface="Calibri" pitchFamily="34" charset="0"/>
                <a:ea typeface="Calibri" pitchFamily="34" charset="-122"/>
                <a:cs typeface="Calibri" pitchFamily="34" charset="-120"/>
              </a:rPr>
              <a:t>Above the line beats its price.  </a:t>
            </a:r>
            <a:r>
              <a:rPr lang="en-US" sz="1250" dirty="0">
                <a:solidFill>
                  <a:srgbClr val="23262B"/>
                </a:solidFill>
                <a:latin typeface="Calibri" pitchFamily="34" charset="0"/>
                <a:ea typeface="Calibri" pitchFamily="34" charset="-122"/>
                <a:cs typeface="Calibri" pitchFamily="34" charset="-120"/>
              </a:rPr>
              <a:t>Look wide, trust narrow - La Liga gives Premier-League quality at half the average price.</a:t>
            </a:r>
            <a:endParaRPr lang="en-US" sz="1250" dirty="0"/>
          </a:p>
        </p:txBody>
      </p:sp>
      <p:sp>
        <p:nvSpPr>
          <p:cNvPr id="12" name="Text 8"/>
          <p:cNvSpPr/>
          <p:nvPr/>
        </p:nvSpPr>
        <p:spPr>
          <a:xfrm>
            <a:off x="457200" y="4855464"/>
            <a:ext cx="5486400" cy="201168"/>
          </a:xfrm>
          <a:prstGeom prst="rect">
            <a:avLst/>
          </a:prstGeom>
          <a:noFill/>
          <a:ln/>
        </p:spPr>
        <p:txBody>
          <a:bodyPr wrap="square" lIns="0" tIns="0" rIns="0" bIns="0" rtlCol="0" anchor="ctr"/>
          <a:lstStyle/>
          <a:p>
            <a:pPr marL="0" indent="0">
              <a:buNone/>
            </a:pPr>
            <a:r>
              <a:rPr lang="en-US" sz="800" dirty="0">
                <a:solidFill>
                  <a:srgbClr val="6E767E"/>
                </a:solidFill>
                <a:latin typeface="Calibri" pitchFamily="34" charset="0"/>
                <a:ea typeface="Calibri" pitchFamily="34" charset="-122"/>
                <a:cs typeface="Calibri" pitchFamily="34" charset="-120"/>
              </a:rPr>
              <a:t>Brentford FC  ·  Head of Recruitment Dashboard</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ellipse">
            <a:avLst/>
          </a:prstGeom>
          <a:solidFill>
            <a:srgbClr val="C8102E"/>
          </a:solidFill>
          <a:ln/>
        </p:spPr>
        <p:txBody>
          <a:bodyPr/>
          <a:lstStyle/>
          <a:p>
            <a:endParaRPr lang="en-GB"/>
          </a:p>
        </p:txBody>
      </p:sp>
      <p:sp>
        <p:nvSpPr>
          <p:cNvPr id="3" name="Text 1"/>
          <p:cNvSpPr/>
          <p:nvPr/>
        </p:nvSpPr>
        <p:spPr>
          <a:xfrm>
            <a:off x="713232" y="274320"/>
            <a:ext cx="7955280" cy="502920"/>
          </a:xfrm>
          <a:prstGeom prst="rect">
            <a:avLst/>
          </a:prstGeom>
          <a:noFill/>
          <a:ln/>
        </p:spPr>
        <p:txBody>
          <a:bodyPr wrap="square" lIns="0" tIns="0" rIns="0" bIns="0" rtlCol="0" anchor="ctr"/>
          <a:lstStyle/>
          <a:p>
            <a:pPr marL="0" indent="0">
              <a:buNone/>
            </a:pPr>
            <a:r>
              <a:rPr lang="en-US" sz="2900" b="1" dirty="0">
                <a:solidFill>
                  <a:srgbClr val="23262B"/>
                </a:solidFill>
                <a:latin typeface="Cambria" pitchFamily="34" charset="0"/>
                <a:ea typeface="Cambria" pitchFamily="34" charset="-122"/>
                <a:cs typeface="Cambria" pitchFamily="34" charset="-120"/>
              </a:rPr>
              <a:t>Demo · Who's underpriced?</a:t>
            </a:r>
            <a:endParaRPr lang="en-US" sz="2900" dirty="0"/>
          </a:p>
        </p:txBody>
      </p:sp>
      <p:sp>
        <p:nvSpPr>
          <p:cNvPr id="4" name="Text 2"/>
          <p:cNvSpPr/>
          <p:nvPr/>
        </p:nvSpPr>
        <p:spPr>
          <a:xfrm>
            <a:off x="713232" y="749808"/>
            <a:ext cx="7315200" cy="201168"/>
          </a:xfrm>
          <a:prstGeom prst="rect">
            <a:avLst/>
          </a:prstGeom>
          <a:noFill/>
          <a:ln/>
        </p:spPr>
        <p:txBody>
          <a:bodyPr wrap="square" lIns="0" tIns="0" rIns="0" bIns="0" rtlCol="0" anchor="ctr"/>
          <a:lstStyle/>
          <a:p>
            <a:pPr marL="0" indent="0">
              <a:buNone/>
            </a:pPr>
            <a:r>
              <a:rPr lang="en-US" sz="950" b="1" kern="0" spc="200" dirty="0">
                <a:solidFill>
                  <a:srgbClr val="C8102E"/>
                </a:solidFill>
                <a:latin typeface="Calibri" pitchFamily="34" charset="0"/>
                <a:ea typeface="Calibri" pitchFamily="34" charset="-122"/>
                <a:cs typeface="Calibri" pitchFamily="34" charset="-120"/>
              </a:rPr>
              <a:t>PLAYER VALUE SCANNER</a:t>
            </a:r>
            <a:endParaRPr lang="en-US" sz="950" dirty="0"/>
          </a:p>
        </p:txBody>
      </p:sp>
      <p:sp>
        <p:nvSpPr>
          <p:cNvPr id="5" name="Shape 3"/>
          <p:cNvSpPr/>
          <p:nvPr/>
        </p:nvSpPr>
        <p:spPr>
          <a:xfrm>
            <a:off x="448056" y="1042416"/>
            <a:ext cx="5188031" cy="3493008"/>
          </a:xfrm>
          <a:prstGeom prst="rect">
            <a:avLst/>
          </a:prstGeom>
          <a:solidFill>
            <a:srgbClr val="FFFFFF"/>
          </a:solidFill>
          <a:ln w="12700">
            <a:solidFill>
              <a:srgbClr val="DDE0E4"/>
            </a:solidFill>
            <a:prstDash val="solid"/>
          </a:ln>
          <a:effectLst>
            <a:outerShdw blurRad="114300" dist="38100" dir="5400000" algn="bl" rotWithShape="0">
              <a:srgbClr val="000000">
                <a:alpha val="18000"/>
              </a:srgbClr>
            </a:outerShdw>
          </a:effectLst>
        </p:spPr>
        <p:txBody>
          <a:bodyPr/>
          <a:lstStyle/>
          <a:p>
            <a:endParaRPr lang="en-GB"/>
          </a:p>
        </p:txBody>
      </p:sp>
      <p:pic>
        <p:nvPicPr>
          <p:cNvPr id="6" name="Image 0" descr="img/p3_ferran.png"/>
          <p:cNvPicPr>
            <a:picLocks noChangeAspect="1"/>
          </p:cNvPicPr>
          <p:nvPr/>
        </p:nvPicPr>
        <p:blipFill>
          <a:blip r:embed="rId3"/>
          <a:stretch>
            <a:fillRect/>
          </a:stretch>
        </p:blipFill>
        <p:spPr>
          <a:xfrm>
            <a:off x="502920" y="1097280"/>
            <a:ext cx="5078303" cy="3383280"/>
          </a:xfrm>
          <a:prstGeom prst="rect">
            <a:avLst/>
          </a:prstGeom>
        </p:spPr>
      </p:pic>
      <p:sp>
        <p:nvSpPr>
          <p:cNvPr id="7" name="Shape 4"/>
          <p:cNvSpPr/>
          <p:nvPr/>
        </p:nvSpPr>
        <p:spPr>
          <a:xfrm>
            <a:off x="5946983" y="1280160"/>
            <a:ext cx="118872" cy="118872"/>
          </a:xfrm>
          <a:prstGeom prst="ellipse">
            <a:avLst/>
          </a:prstGeom>
          <a:solidFill>
            <a:srgbClr val="C8102E"/>
          </a:solidFill>
          <a:ln/>
        </p:spPr>
        <p:txBody>
          <a:bodyPr/>
          <a:lstStyle/>
          <a:p>
            <a:endParaRPr lang="en-GB"/>
          </a:p>
        </p:txBody>
      </p:sp>
      <p:sp>
        <p:nvSpPr>
          <p:cNvPr id="8" name="Text 5"/>
          <p:cNvSpPr/>
          <p:nvPr/>
        </p:nvSpPr>
        <p:spPr>
          <a:xfrm>
            <a:off x="6193871" y="1216152"/>
            <a:ext cx="2468880" cy="822960"/>
          </a:xfrm>
          <a:prstGeom prst="rect">
            <a:avLst/>
          </a:prstGeom>
          <a:noFill/>
          <a:ln/>
        </p:spPr>
        <p:txBody>
          <a:bodyPr wrap="square" lIns="0" tIns="0" rIns="0" bIns="0" rtlCol="0" anchor="t"/>
          <a:lstStyle/>
          <a:p>
            <a:pPr marL="0" indent="0">
              <a:buNone/>
            </a:pPr>
            <a:r>
              <a:rPr lang="en-US" sz="1300" dirty="0">
                <a:solidFill>
                  <a:srgbClr val="23262B"/>
                </a:solidFill>
                <a:latin typeface="Calibri" pitchFamily="34" charset="0"/>
                <a:ea typeface="Calibri" pitchFamily="34" charset="-122"/>
                <a:cs typeface="Calibri" pitchFamily="34" charset="-120"/>
              </a:rPr>
              <a:t>Apply the brief → a handful remain</a:t>
            </a:r>
            <a:endParaRPr lang="en-US" sz="1300" dirty="0"/>
          </a:p>
        </p:txBody>
      </p:sp>
      <p:sp>
        <p:nvSpPr>
          <p:cNvPr id="9" name="Shape 6"/>
          <p:cNvSpPr/>
          <p:nvPr/>
        </p:nvSpPr>
        <p:spPr>
          <a:xfrm>
            <a:off x="5946983" y="2194560"/>
            <a:ext cx="118872" cy="118872"/>
          </a:xfrm>
          <a:prstGeom prst="ellipse">
            <a:avLst/>
          </a:prstGeom>
          <a:solidFill>
            <a:srgbClr val="C8102E"/>
          </a:solidFill>
          <a:ln/>
        </p:spPr>
        <p:txBody>
          <a:bodyPr/>
          <a:lstStyle/>
          <a:p>
            <a:endParaRPr lang="en-GB"/>
          </a:p>
        </p:txBody>
      </p:sp>
      <p:sp>
        <p:nvSpPr>
          <p:cNvPr id="10" name="Text 7"/>
          <p:cNvSpPr/>
          <p:nvPr/>
        </p:nvSpPr>
        <p:spPr>
          <a:xfrm>
            <a:off x="6193871" y="2130552"/>
            <a:ext cx="2468880" cy="822960"/>
          </a:xfrm>
          <a:prstGeom prst="rect">
            <a:avLst/>
          </a:prstGeom>
          <a:noFill/>
          <a:ln/>
        </p:spPr>
        <p:txBody>
          <a:bodyPr wrap="square" lIns="0" tIns="0" rIns="0" bIns="0" rtlCol="0" anchor="t"/>
          <a:lstStyle/>
          <a:p>
            <a:pPr marL="0" indent="0">
              <a:buNone/>
            </a:pPr>
            <a:r>
              <a:rPr lang="en-US" sz="1300" dirty="0">
                <a:solidFill>
                  <a:srgbClr val="23262B"/>
                </a:solidFill>
                <a:latin typeface="Calibri" pitchFamily="34" charset="0"/>
                <a:ea typeface="Calibri" pitchFamily="34" charset="-122"/>
                <a:cs typeface="Calibri" pitchFamily="34" charset="-120"/>
              </a:rPr>
              <a:t>Click → percentile profile</a:t>
            </a:r>
            <a:endParaRPr lang="en-US" sz="1300" dirty="0"/>
          </a:p>
        </p:txBody>
      </p:sp>
      <p:sp>
        <p:nvSpPr>
          <p:cNvPr id="11" name="Shape 8"/>
          <p:cNvSpPr/>
          <p:nvPr/>
        </p:nvSpPr>
        <p:spPr>
          <a:xfrm>
            <a:off x="5946983" y="3108960"/>
            <a:ext cx="118872" cy="118872"/>
          </a:xfrm>
          <a:prstGeom prst="ellipse">
            <a:avLst/>
          </a:prstGeom>
          <a:solidFill>
            <a:srgbClr val="C8102E"/>
          </a:solidFill>
          <a:ln/>
        </p:spPr>
        <p:txBody>
          <a:bodyPr/>
          <a:lstStyle/>
          <a:p>
            <a:endParaRPr lang="en-GB"/>
          </a:p>
        </p:txBody>
      </p:sp>
      <p:sp>
        <p:nvSpPr>
          <p:cNvPr id="12" name="Text 9"/>
          <p:cNvSpPr/>
          <p:nvPr/>
        </p:nvSpPr>
        <p:spPr>
          <a:xfrm>
            <a:off x="6193871" y="3044952"/>
            <a:ext cx="2468880" cy="822960"/>
          </a:xfrm>
          <a:prstGeom prst="rect">
            <a:avLst/>
          </a:prstGeom>
          <a:noFill/>
          <a:ln/>
        </p:spPr>
        <p:txBody>
          <a:bodyPr wrap="square" lIns="0" tIns="0" rIns="0" bIns="0" rtlCol="0" anchor="t"/>
          <a:lstStyle/>
          <a:p>
            <a:pPr marL="0" indent="0">
              <a:buNone/>
            </a:pPr>
            <a:r>
              <a:rPr lang="en-US" sz="1300" dirty="0">
                <a:solidFill>
                  <a:srgbClr val="23262B"/>
                </a:solidFill>
                <a:latin typeface="Calibri" pitchFamily="34" charset="0"/>
                <a:ea typeface="Calibri" pitchFamily="34" charset="-122"/>
                <a:cs typeface="Calibri" pitchFamily="34" charset="-120"/>
              </a:rPr>
              <a:t>Ferrán Torres: 95, well above price</a:t>
            </a:r>
            <a:endParaRPr lang="en-US" sz="1300" dirty="0"/>
          </a:p>
        </p:txBody>
      </p:sp>
      <p:sp>
        <p:nvSpPr>
          <p:cNvPr id="13" name="Text 10"/>
          <p:cNvSpPr/>
          <p:nvPr/>
        </p:nvSpPr>
        <p:spPr>
          <a:xfrm>
            <a:off x="457200" y="4855464"/>
            <a:ext cx="5486400" cy="201168"/>
          </a:xfrm>
          <a:prstGeom prst="rect">
            <a:avLst/>
          </a:prstGeom>
          <a:noFill/>
          <a:ln/>
        </p:spPr>
        <p:txBody>
          <a:bodyPr wrap="square" lIns="0" tIns="0" rIns="0" bIns="0" rtlCol="0" anchor="ctr"/>
          <a:lstStyle/>
          <a:p>
            <a:pPr marL="0" indent="0">
              <a:buNone/>
            </a:pPr>
            <a:r>
              <a:rPr lang="en-US" sz="800" dirty="0">
                <a:solidFill>
                  <a:srgbClr val="6E767E"/>
                </a:solidFill>
                <a:latin typeface="Calibri" pitchFamily="34" charset="0"/>
                <a:ea typeface="Calibri" pitchFamily="34" charset="-122"/>
                <a:cs typeface="Calibri" pitchFamily="34" charset="-120"/>
              </a:rPr>
              <a:t>Brentford FC  ·  Head of Recruitment Dashboard</a:t>
            </a:r>
            <a:endParaRPr lang="en-US" sz="800" dirty="0"/>
          </a:p>
        </p:txBody>
      </p:sp>
      <p:sp>
        <p:nvSpPr>
          <p:cNvPr id="14" name="Oval 13">
            <a:extLst>
              <a:ext uri="{FF2B5EF4-FFF2-40B4-BE49-F238E27FC236}">
                <a16:creationId xmlns:a16="http://schemas.microsoft.com/office/drawing/2014/main" id="{4BE9E11D-40AC-6E70-E7B1-0258B075AA1D}"/>
              </a:ext>
            </a:extLst>
          </p:cNvPr>
          <p:cNvSpPr/>
          <p:nvPr/>
        </p:nvSpPr>
        <p:spPr>
          <a:xfrm>
            <a:off x="1175377" y="1705179"/>
            <a:ext cx="78489" cy="7260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4AD02596-797B-0629-FC05-C5ECC92088EF}"/>
              </a:ext>
            </a:extLst>
          </p:cNvPr>
          <p:cNvSpPr/>
          <p:nvPr/>
        </p:nvSpPr>
        <p:spPr>
          <a:xfrm>
            <a:off x="2758244" y="1875239"/>
            <a:ext cx="78489" cy="7260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ellipse">
            <a:avLst/>
          </a:prstGeom>
          <a:solidFill>
            <a:srgbClr val="C8102E"/>
          </a:solidFill>
          <a:ln/>
        </p:spPr>
        <p:txBody>
          <a:bodyPr/>
          <a:lstStyle/>
          <a:p>
            <a:endParaRPr lang="en-GB"/>
          </a:p>
        </p:txBody>
      </p:sp>
      <p:sp>
        <p:nvSpPr>
          <p:cNvPr id="3" name="Text 1"/>
          <p:cNvSpPr/>
          <p:nvPr/>
        </p:nvSpPr>
        <p:spPr>
          <a:xfrm>
            <a:off x="713232" y="274320"/>
            <a:ext cx="7955280" cy="502920"/>
          </a:xfrm>
          <a:prstGeom prst="rect">
            <a:avLst/>
          </a:prstGeom>
          <a:noFill/>
          <a:ln/>
        </p:spPr>
        <p:txBody>
          <a:bodyPr wrap="square" lIns="0" tIns="0" rIns="0" bIns="0" rtlCol="0" anchor="ctr"/>
          <a:lstStyle/>
          <a:p>
            <a:pPr marL="0" indent="0">
              <a:buNone/>
            </a:pPr>
            <a:r>
              <a:rPr lang="en-US" sz="2900" b="1" dirty="0">
                <a:solidFill>
                  <a:srgbClr val="23262B"/>
                </a:solidFill>
                <a:latin typeface="Cambria" pitchFamily="34" charset="0"/>
                <a:ea typeface="Cambria" pitchFamily="34" charset="-122"/>
                <a:cs typeface="Cambria" pitchFamily="34" charset="-120"/>
              </a:rPr>
              <a:t>Demo · The head-to-head</a:t>
            </a:r>
            <a:endParaRPr lang="en-US" sz="2900" dirty="0"/>
          </a:p>
        </p:txBody>
      </p:sp>
      <p:sp>
        <p:nvSpPr>
          <p:cNvPr id="4" name="Text 2"/>
          <p:cNvSpPr/>
          <p:nvPr/>
        </p:nvSpPr>
        <p:spPr>
          <a:xfrm>
            <a:off x="713232" y="749808"/>
            <a:ext cx="7315200" cy="201168"/>
          </a:xfrm>
          <a:prstGeom prst="rect">
            <a:avLst/>
          </a:prstGeom>
          <a:noFill/>
          <a:ln/>
        </p:spPr>
        <p:txBody>
          <a:bodyPr wrap="square" lIns="0" tIns="0" rIns="0" bIns="0" rtlCol="0" anchor="ctr"/>
          <a:lstStyle/>
          <a:p>
            <a:pPr marL="0" indent="0">
              <a:buNone/>
            </a:pPr>
            <a:r>
              <a:rPr lang="en-US" sz="950" b="1" kern="0" spc="200" dirty="0">
                <a:solidFill>
                  <a:srgbClr val="C8102E"/>
                </a:solidFill>
                <a:latin typeface="Calibri" pitchFamily="34" charset="0"/>
                <a:ea typeface="Calibri" pitchFamily="34" charset="-122"/>
                <a:cs typeface="Calibri" pitchFamily="34" charset="-120"/>
              </a:rPr>
              <a:t>PLAYER COMPARISON</a:t>
            </a:r>
            <a:endParaRPr lang="en-US" sz="950" dirty="0"/>
          </a:p>
        </p:txBody>
      </p:sp>
      <p:sp>
        <p:nvSpPr>
          <p:cNvPr id="5" name="Shape 3"/>
          <p:cNvSpPr/>
          <p:nvPr/>
        </p:nvSpPr>
        <p:spPr>
          <a:xfrm>
            <a:off x="448056" y="1042416"/>
            <a:ext cx="5188031" cy="3493008"/>
          </a:xfrm>
          <a:prstGeom prst="rect">
            <a:avLst/>
          </a:prstGeom>
          <a:solidFill>
            <a:srgbClr val="FFFFFF"/>
          </a:solidFill>
          <a:ln w="12700">
            <a:solidFill>
              <a:srgbClr val="DDE0E4"/>
            </a:solidFill>
            <a:prstDash val="solid"/>
          </a:ln>
          <a:effectLst>
            <a:outerShdw blurRad="114300" dist="38100" dir="5400000" algn="bl" rotWithShape="0">
              <a:srgbClr val="000000">
                <a:alpha val="18000"/>
              </a:srgbClr>
            </a:outerShdw>
          </a:effectLst>
        </p:spPr>
        <p:txBody>
          <a:bodyPr/>
          <a:lstStyle/>
          <a:p>
            <a:endParaRPr lang="en-GB"/>
          </a:p>
        </p:txBody>
      </p:sp>
      <p:pic>
        <p:nvPicPr>
          <p:cNvPr id="6" name="Image 0" descr="img/p4_compare.png"/>
          <p:cNvPicPr>
            <a:picLocks noChangeAspect="1"/>
          </p:cNvPicPr>
          <p:nvPr/>
        </p:nvPicPr>
        <p:blipFill>
          <a:blip r:embed="rId3"/>
          <a:stretch>
            <a:fillRect/>
          </a:stretch>
        </p:blipFill>
        <p:spPr>
          <a:xfrm>
            <a:off x="502920" y="1097280"/>
            <a:ext cx="5078303" cy="3383280"/>
          </a:xfrm>
          <a:prstGeom prst="rect">
            <a:avLst/>
          </a:prstGeom>
        </p:spPr>
      </p:pic>
      <p:sp>
        <p:nvSpPr>
          <p:cNvPr id="7" name="Shape 4"/>
          <p:cNvSpPr/>
          <p:nvPr/>
        </p:nvSpPr>
        <p:spPr>
          <a:xfrm>
            <a:off x="5946983" y="1280160"/>
            <a:ext cx="118872" cy="118872"/>
          </a:xfrm>
          <a:prstGeom prst="ellipse">
            <a:avLst/>
          </a:prstGeom>
          <a:solidFill>
            <a:srgbClr val="C8102E"/>
          </a:solidFill>
          <a:ln/>
        </p:spPr>
        <p:txBody>
          <a:bodyPr/>
          <a:lstStyle/>
          <a:p>
            <a:endParaRPr lang="en-GB"/>
          </a:p>
        </p:txBody>
      </p:sp>
      <p:sp>
        <p:nvSpPr>
          <p:cNvPr id="8" name="Text 5"/>
          <p:cNvSpPr/>
          <p:nvPr/>
        </p:nvSpPr>
        <p:spPr>
          <a:xfrm>
            <a:off x="6193871" y="1216152"/>
            <a:ext cx="2468880" cy="822960"/>
          </a:xfrm>
          <a:prstGeom prst="rect">
            <a:avLst/>
          </a:prstGeom>
          <a:noFill/>
          <a:ln/>
        </p:spPr>
        <p:txBody>
          <a:bodyPr wrap="square" lIns="0" tIns="0" rIns="0" bIns="0" rtlCol="0" anchor="t"/>
          <a:lstStyle/>
          <a:p>
            <a:pPr marL="0" indent="0">
              <a:buNone/>
            </a:pPr>
            <a:r>
              <a:rPr lang="en-US" sz="1300" dirty="0">
                <a:solidFill>
                  <a:srgbClr val="23262B"/>
                </a:solidFill>
                <a:latin typeface="Calibri" pitchFamily="34" charset="0"/>
                <a:ea typeface="Calibri" pitchFamily="34" charset="-122"/>
                <a:cs typeface="Calibri" pitchFamily="34" charset="-120"/>
              </a:rPr>
              <a:t>Shortlist, side by side</a:t>
            </a:r>
            <a:endParaRPr lang="en-US" sz="1300" dirty="0"/>
          </a:p>
        </p:txBody>
      </p:sp>
      <p:sp>
        <p:nvSpPr>
          <p:cNvPr id="9" name="Shape 6"/>
          <p:cNvSpPr/>
          <p:nvPr/>
        </p:nvSpPr>
        <p:spPr>
          <a:xfrm>
            <a:off x="5946983" y="2194560"/>
            <a:ext cx="118872" cy="118872"/>
          </a:xfrm>
          <a:prstGeom prst="ellipse">
            <a:avLst/>
          </a:prstGeom>
          <a:solidFill>
            <a:srgbClr val="C8102E"/>
          </a:solidFill>
          <a:ln/>
        </p:spPr>
        <p:txBody>
          <a:bodyPr/>
          <a:lstStyle/>
          <a:p>
            <a:endParaRPr lang="en-GB"/>
          </a:p>
        </p:txBody>
      </p:sp>
      <p:sp>
        <p:nvSpPr>
          <p:cNvPr id="10" name="Text 7"/>
          <p:cNvSpPr/>
          <p:nvPr/>
        </p:nvSpPr>
        <p:spPr>
          <a:xfrm>
            <a:off x="6193871" y="2130552"/>
            <a:ext cx="2468880" cy="822960"/>
          </a:xfrm>
          <a:prstGeom prst="rect">
            <a:avLst/>
          </a:prstGeom>
          <a:noFill/>
          <a:ln/>
        </p:spPr>
        <p:txBody>
          <a:bodyPr wrap="square" lIns="0" tIns="0" rIns="0" bIns="0" rtlCol="0" anchor="t"/>
          <a:lstStyle/>
          <a:p>
            <a:pPr marL="0" indent="0">
              <a:buNone/>
            </a:pPr>
            <a:r>
              <a:rPr lang="en-US" sz="1300" dirty="0">
                <a:solidFill>
                  <a:srgbClr val="23262B"/>
                </a:solidFill>
                <a:latin typeface="Calibri" pitchFamily="34" charset="0"/>
                <a:ea typeface="Calibri" pitchFamily="34" charset="-122"/>
                <a:cs typeface="Calibri" pitchFamily="34" charset="-120"/>
              </a:rPr>
              <a:t>Ferrán: the complete finisher</a:t>
            </a:r>
            <a:endParaRPr lang="en-US" sz="1300" dirty="0"/>
          </a:p>
        </p:txBody>
      </p:sp>
      <p:sp>
        <p:nvSpPr>
          <p:cNvPr id="11" name="Shape 8"/>
          <p:cNvSpPr/>
          <p:nvPr/>
        </p:nvSpPr>
        <p:spPr>
          <a:xfrm>
            <a:off x="5946983" y="3108960"/>
            <a:ext cx="118872" cy="118872"/>
          </a:xfrm>
          <a:prstGeom prst="ellipse">
            <a:avLst/>
          </a:prstGeom>
          <a:solidFill>
            <a:srgbClr val="C8102E"/>
          </a:solidFill>
          <a:ln/>
        </p:spPr>
        <p:txBody>
          <a:bodyPr/>
          <a:lstStyle/>
          <a:p>
            <a:endParaRPr lang="en-GB"/>
          </a:p>
        </p:txBody>
      </p:sp>
      <p:sp>
        <p:nvSpPr>
          <p:cNvPr id="12" name="Text 9"/>
          <p:cNvSpPr/>
          <p:nvPr/>
        </p:nvSpPr>
        <p:spPr>
          <a:xfrm>
            <a:off x="6193871" y="3044952"/>
            <a:ext cx="2468880" cy="822960"/>
          </a:xfrm>
          <a:prstGeom prst="rect">
            <a:avLst/>
          </a:prstGeom>
          <a:noFill/>
          <a:ln/>
        </p:spPr>
        <p:txBody>
          <a:bodyPr wrap="square" lIns="0" tIns="0" rIns="0" bIns="0" rtlCol="0" anchor="t"/>
          <a:lstStyle/>
          <a:p>
            <a:pPr marL="0" indent="0">
              <a:buNone/>
            </a:pPr>
            <a:r>
              <a:rPr lang="en-US" sz="1300" dirty="0">
                <a:solidFill>
                  <a:srgbClr val="23262B"/>
                </a:solidFill>
                <a:latin typeface="Calibri" pitchFamily="34" charset="0"/>
                <a:ea typeface="Calibri" pitchFamily="34" charset="-122"/>
                <a:cs typeface="Calibri" pitchFamily="34" charset="-120"/>
              </a:rPr>
              <a:t>Budget picks: creators, not scorers</a:t>
            </a:r>
            <a:endParaRPr lang="en-US" sz="1300" dirty="0"/>
          </a:p>
        </p:txBody>
      </p:sp>
      <p:sp>
        <p:nvSpPr>
          <p:cNvPr id="13" name="Text 10"/>
          <p:cNvSpPr/>
          <p:nvPr/>
        </p:nvSpPr>
        <p:spPr>
          <a:xfrm>
            <a:off x="457200" y="4855464"/>
            <a:ext cx="5486400" cy="201168"/>
          </a:xfrm>
          <a:prstGeom prst="rect">
            <a:avLst/>
          </a:prstGeom>
          <a:noFill/>
          <a:ln/>
        </p:spPr>
        <p:txBody>
          <a:bodyPr wrap="square" lIns="0" tIns="0" rIns="0" bIns="0" rtlCol="0" anchor="ctr"/>
          <a:lstStyle/>
          <a:p>
            <a:pPr marL="0" indent="0">
              <a:buNone/>
            </a:pPr>
            <a:r>
              <a:rPr lang="en-US" sz="800" dirty="0">
                <a:solidFill>
                  <a:srgbClr val="6E767E"/>
                </a:solidFill>
                <a:latin typeface="Calibri" pitchFamily="34" charset="0"/>
                <a:ea typeface="Calibri" pitchFamily="34" charset="-122"/>
                <a:cs typeface="Calibri" pitchFamily="34" charset="-120"/>
              </a:rPr>
              <a:t>Brentford FC  ·  Head of Recruitment Dashboard</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91D"/>
        </a:solidFill>
        <a:effectLst/>
      </p:bgPr>
    </p:bg>
    <p:spTree>
      <p:nvGrpSpPr>
        <p:cNvPr id="1" name=""/>
        <p:cNvGrpSpPr/>
        <p:nvPr/>
      </p:nvGrpSpPr>
      <p:grpSpPr>
        <a:xfrm>
          <a:off x="0" y="0"/>
          <a:ext cx="0" cy="0"/>
          <a:chOff x="0" y="0"/>
          <a:chExt cx="0" cy="0"/>
        </a:xfrm>
      </p:grpSpPr>
      <p:sp>
        <p:nvSpPr>
          <p:cNvPr id="2" name="Shape 0"/>
          <p:cNvSpPr/>
          <p:nvPr/>
        </p:nvSpPr>
        <p:spPr>
          <a:xfrm>
            <a:off x="7406640" y="3383280"/>
            <a:ext cx="3291840" cy="3291840"/>
          </a:xfrm>
          <a:prstGeom prst="ellipse">
            <a:avLst/>
          </a:prstGeom>
          <a:solidFill>
            <a:srgbClr val="C8102E">
              <a:alpha val="14000"/>
            </a:srgbClr>
          </a:solidFill>
          <a:ln/>
        </p:spPr>
        <p:txBody>
          <a:bodyPr/>
          <a:lstStyle/>
          <a:p>
            <a:endParaRPr lang="en-GB"/>
          </a:p>
        </p:txBody>
      </p:sp>
      <p:sp>
        <p:nvSpPr>
          <p:cNvPr id="3" name="Shape 1"/>
          <p:cNvSpPr/>
          <p:nvPr/>
        </p:nvSpPr>
        <p:spPr>
          <a:xfrm>
            <a:off x="8595360" y="-914400"/>
            <a:ext cx="2011680" cy="2011680"/>
          </a:xfrm>
          <a:prstGeom prst="ellipse">
            <a:avLst/>
          </a:prstGeom>
          <a:solidFill>
            <a:srgbClr val="C8102E">
              <a:alpha val="10000"/>
            </a:srgbClr>
          </a:solidFill>
          <a:ln/>
        </p:spPr>
        <p:txBody>
          <a:bodyPr/>
          <a:lstStyle/>
          <a:p>
            <a:endParaRPr lang="en-GB"/>
          </a:p>
        </p:txBody>
      </p:sp>
      <p:sp>
        <p:nvSpPr>
          <p:cNvPr id="4" name="Shape 2"/>
          <p:cNvSpPr/>
          <p:nvPr/>
        </p:nvSpPr>
        <p:spPr>
          <a:xfrm>
            <a:off x="777240" y="658368"/>
            <a:ext cx="164592" cy="164592"/>
          </a:xfrm>
          <a:prstGeom prst="ellipse">
            <a:avLst/>
          </a:prstGeom>
          <a:solidFill>
            <a:srgbClr val="C8102E"/>
          </a:solidFill>
          <a:ln/>
        </p:spPr>
        <p:txBody>
          <a:bodyPr/>
          <a:lstStyle/>
          <a:p>
            <a:endParaRPr lang="en-GB"/>
          </a:p>
        </p:txBody>
      </p:sp>
      <p:sp>
        <p:nvSpPr>
          <p:cNvPr id="5" name="Text 3"/>
          <p:cNvSpPr/>
          <p:nvPr/>
        </p:nvSpPr>
        <p:spPr>
          <a:xfrm>
            <a:off x="1051560" y="612648"/>
            <a:ext cx="6400800" cy="274320"/>
          </a:xfrm>
          <a:prstGeom prst="rect">
            <a:avLst/>
          </a:prstGeom>
          <a:noFill/>
          <a:ln/>
        </p:spPr>
        <p:txBody>
          <a:bodyPr wrap="square" lIns="0" tIns="0" rIns="0" bIns="0" rtlCol="0" anchor="ctr"/>
          <a:lstStyle/>
          <a:p>
            <a:pPr marL="0" indent="0">
              <a:buNone/>
            </a:pPr>
            <a:r>
              <a:rPr lang="en-US" sz="1100" b="1" kern="0" spc="200" dirty="0">
                <a:solidFill>
                  <a:srgbClr val="B9BEC4"/>
                </a:solidFill>
                <a:latin typeface="Calibri" pitchFamily="34" charset="0"/>
                <a:ea typeface="Calibri" pitchFamily="34" charset="-122"/>
                <a:cs typeface="Calibri" pitchFamily="34" charset="-120"/>
              </a:rPr>
              <a:t>CONCLUSION</a:t>
            </a:r>
            <a:endParaRPr lang="en-US" sz="1100" dirty="0"/>
          </a:p>
        </p:txBody>
      </p:sp>
      <p:sp>
        <p:nvSpPr>
          <p:cNvPr id="6" name="Text 4"/>
          <p:cNvSpPr/>
          <p:nvPr/>
        </p:nvSpPr>
        <p:spPr>
          <a:xfrm>
            <a:off x="777240" y="960120"/>
            <a:ext cx="786384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From hunch to shortlist - in minutes</a:t>
            </a:r>
            <a:endParaRPr lang="en-US" sz="3000" dirty="0"/>
          </a:p>
        </p:txBody>
      </p:sp>
      <p:sp>
        <p:nvSpPr>
          <p:cNvPr id="7" name="Shape 5"/>
          <p:cNvSpPr/>
          <p:nvPr/>
        </p:nvSpPr>
        <p:spPr>
          <a:xfrm>
            <a:off x="777240" y="1920240"/>
            <a:ext cx="365760" cy="365760"/>
          </a:xfrm>
          <a:prstGeom prst="ellipse">
            <a:avLst/>
          </a:prstGeom>
          <a:solidFill>
            <a:srgbClr val="C8102E"/>
          </a:solidFill>
          <a:ln/>
        </p:spPr>
        <p:txBody>
          <a:bodyPr/>
          <a:lstStyle/>
          <a:p>
            <a:endParaRPr lang="en-GB"/>
          </a:p>
        </p:txBody>
      </p:sp>
      <p:sp>
        <p:nvSpPr>
          <p:cNvPr id="8" name="Text 6"/>
          <p:cNvSpPr/>
          <p:nvPr/>
        </p:nvSpPr>
        <p:spPr>
          <a:xfrm>
            <a:off x="777240" y="192024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p:nvPr/>
        </p:nvSpPr>
        <p:spPr>
          <a:xfrm>
            <a:off x="777240" y="2423160"/>
            <a:ext cx="2587752" cy="3200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The workflow</a:t>
            </a:r>
            <a:endParaRPr lang="en-US" sz="1500" dirty="0"/>
          </a:p>
        </p:txBody>
      </p:sp>
      <p:sp>
        <p:nvSpPr>
          <p:cNvPr id="10" name="Text 8"/>
          <p:cNvSpPr/>
          <p:nvPr/>
        </p:nvSpPr>
        <p:spPr>
          <a:xfrm>
            <a:off x="777240" y="2788920"/>
            <a:ext cx="2587752" cy="1005840"/>
          </a:xfrm>
          <a:prstGeom prst="rect">
            <a:avLst/>
          </a:prstGeom>
          <a:noFill/>
          <a:ln/>
        </p:spPr>
        <p:txBody>
          <a:bodyPr wrap="square" lIns="0" tIns="0" rIns="0" bIns="0" rtlCol="0" anchor="ctr"/>
          <a:lstStyle/>
          <a:p>
            <a:pPr marL="0" indent="0">
              <a:buNone/>
            </a:pPr>
            <a:r>
              <a:rPr lang="en-US" sz="1200" dirty="0">
                <a:solidFill>
                  <a:srgbClr val="C7CCD2"/>
                </a:solidFill>
                <a:latin typeface="Calibri" pitchFamily="34" charset="0"/>
                <a:ea typeface="Calibri" pitchFamily="34" charset="-122"/>
                <a:cs typeface="Calibri" pitchFamily="34" charset="-120"/>
              </a:rPr>
              <a:t>A hunch from the map, narrowed to a league I trust, down to a data-backed two.</a:t>
            </a:r>
            <a:endParaRPr lang="en-US" sz="1200" dirty="0"/>
          </a:p>
        </p:txBody>
      </p:sp>
      <p:sp>
        <p:nvSpPr>
          <p:cNvPr id="11" name="Shape 9"/>
          <p:cNvSpPr/>
          <p:nvPr/>
        </p:nvSpPr>
        <p:spPr>
          <a:xfrm>
            <a:off x="3557016" y="1920240"/>
            <a:ext cx="365760" cy="365760"/>
          </a:xfrm>
          <a:prstGeom prst="ellipse">
            <a:avLst/>
          </a:prstGeom>
          <a:solidFill>
            <a:srgbClr val="C8102E"/>
          </a:solidFill>
          <a:ln/>
        </p:spPr>
        <p:txBody>
          <a:bodyPr/>
          <a:lstStyle/>
          <a:p>
            <a:endParaRPr lang="en-GB"/>
          </a:p>
        </p:txBody>
      </p:sp>
      <p:sp>
        <p:nvSpPr>
          <p:cNvPr id="12" name="Text 10"/>
          <p:cNvSpPr/>
          <p:nvPr/>
        </p:nvSpPr>
        <p:spPr>
          <a:xfrm>
            <a:off x="3557016" y="192024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3557016" y="2423160"/>
            <a:ext cx="2587752" cy="3200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Honest about its edges</a:t>
            </a:r>
            <a:endParaRPr lang="en-US" sz="1500" dirty="0"/>
          </a:p>
        </p:txBody>
      </p:sp>
      <p:sp>
        <p:nvSpPr>
          <p:cNvPr id="14" name="Text 12"/>
          <p:cNvSpPr/>
          <p:nvPr/>
        </p:nvSpPr>
        <p:spPr>
          <a:xfrm>
            <a:off x="3557016" y="2788920"/>
            <a:ext cx="2587752" cy="1005840"/>
          </a:xfrm>
          <a:prstGeom prst="rect">
            <a:avLst/>
          </a:prstGeom>
          <a:noFill/>
          <a:ln/>
        </p:spPr>
        <p:txBody>
          <a:bodyPr wrap="square" lIns="0" tIns="0" rIns="0" bIns="0" rtlCol="0" anchor="ctr"/>
          <a:lstStyle/>
          <a:p>
            <a:pPr marL="0" indent="0">
              <a:buNone/>
            </a:pPr>
            <a:r>
              <a:rPr lang="en-US" sz="1200" dirty="0">
                <a:solidFill>
                  <a:srgbClr val="C7CCD2"/>
                </a:solidFill>
                <a:latin typeface="Calibri" pitchFamily="34" charset="0"/>
                <a:ea typeface="Calibri" pitchFamily="34" charset="-122"/>
                <a:cs typeface="Calibri" pitchFamily="34" charset="-120"/>
              </a:rPr>
              <a:t>Verified performance is Big 5 only; market values are point-in-time.</a:t>
            </a:r>
            <a:endParaRPr lang="en-US" sz="1200" dirty="0"/>
          </a:p>
        </p:txBody>
      </p:sp>
      <p:sp>
        <p:nvSpPr>
          <p:cNvPr id="15" name="Shape 13"/>
          <p:cNvSpPr/>
          <p:nvPr/>
        </p:nvSpPr>
        <p:spPr>
          <a:xfrm>
            <a:off x="6336792" y="1920240"/>
            <a:ext cx="365760" cy="365760"/>
          </a:xfrm>
          <a:prstGeom prst="ellipse">
            <a:avLst/>
          </a:prstGeom>
          <a:solidFill>
            <a:srgbClr val="C8102E"/>
          </a:solidFill>
          <a:ln/>
        </p:spPr>
        <p:txBody>
          <a:bodyPr/>
          <a:lstStyle/>
          <a:p>
            <a:endParaRPr lang="en-GB"/>
          </a:p>
        </p:txBody>
      </p:sp>
      <p:sp>
        <p:nvSpPr>
          <p:cNvPr id="16" name="Text 14"/>
          <p:cNvSpPr/>
          <p:nvPr/>
        </p:nvSpPr>
        <p:spPr>
          <a:xfrm>
            <a:off x="6336792" y="192024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6336792" y="2423160"/>
            <a:ext cx="2587752" cy="3200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Where it goes next</a:t>
            </a:r>
            <a:endParaRPr lang="en-US" sz="1500" dirty="0"/>
          </a:p>
        </p:txBody>
      </p:sp>
      <p:sp>
        <p:nvSpPr>
          <p:cNvPr id="18" name="Text 16"/>
          <p:cNvSpPr/>
          <p:nvPr/>
        </p:nvSpPr>
        <p:spPr>
          <a:xfrm>
            <a:off x="6336792" y="2788920"/>
            <a:ext cx="2587752" cy="1005840"/>
          </a:xfrm>
          <a:prstGeom prst="rect">
            <a:avLst/>
          </a:prstGeom>
          <a:noFill/>
          <a:ln/>
        </p:spPr>
        <p:txBody>
          <a:bodyPr wrap="square" lIns="0" tIns="0" rIns="0" bIns="0" rtlCol="0" anchor="ctr"/>
          <a:lstStyle/>
          <a:p>
            <a:pPr marL="0" indent="0">
              <a:buNone/>
            </a:pPr>
            <a:r>
              <a:rPr lang="en-US" sz="1200" dirty="0">
                <a:solidFill>
                  <a:srgbClr val="C7CCD2"/>
                </a:solidFill>
                <a:latin typeface="Calibri" pitchFamily="34" charset="0"/>
                <a:ea typeface="Calibri" pitchFamily="34" charset="-122"/>
                <a:cs typeface="Calibri" pitchFamily="34" charset="-120"/>
              </a:rPr>
              <a:t>Connect the worldwide map to the verified performance layer.</a:t>
            </a:r>
            <a:endParaRPr lang="en-US" sz="1200" dirty="0"/>
          </a:p>
        </p:txBody>
      </p:sp>
      <p:sp>
        <p:nvSpPr>
          <p:cNvPr id="19" name="Text 17"/>
          <p:cNvSpPr/>
          <p:nvPr/>
        </p:nvSpPr>
        <p:spPr>
          <a:xfrm>
            <a:off x="777240" y="4251960"/>
            <a:ext cx="7863840" cy="411480"/>
          </a:xfrm>
          <a:prstGeom prst="rect">
            <a:avLst/>
          </a:prstGeom>
          <a:noFill/>
          <a:ln/>
        </p:spPr>
        <p:txBody>
          <a:bodyPr wrap="square" lIns="0" tIns="0" rIns="0" bIns="0" rtlCol="0" anchor="ctr"/>
          <a:lstStyle/>
          <a:p>
            <a:pPr marL="0" indent="0">
              <a:buNone/>
            </a:pPr>
            <a:r>
              <a:rPr lang="en-US" sz="1600" i="1" dirty="0">
                <a:solidFill>
                  <a:srgbClr val="FFFFFF"/>
                </a:solidFill>
                <a:latin typeface="Cambria" pitchFamily="34" charset="0"/>
                <a:ea typeface="Cambria" pitchFamily="34" charset="-122"/>
                <a:cs typeface="Cambria" pitchFamily="34" charset="-120"/>
              </a:rPr>
              <a:t>Thank you  -  happy to take questions.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20624"/>
            <a:ext cx="146304" cy="146304"/>
          </a:xfrm>
          <a:prstGeom prst="ellipse">
            <a:avLst/>
          </a:prstGeom>
          <a:solidFill>
            <a:srgbClr val="C8102E"/>
          </a:solidFill>
          <a:ln/>
        </p:spPr>
        <p:txBody>
          <a:bodyPr/>
          <a:lstStyle/>
          <a:p>
            <a:endParaRPr lang="en-GB"/>
          </a:p>
        </p:txBody>
      </p:sp>
      <p:sp>
        <p:nvSpPr>
          <p:cNvPr id="3" name="Text 1"/>
          <p:cNvSpPr/>
          <p:nvPr/>
        </p:nvSpPr>
        <p:spPr>
          <a:xfrm>
            <a:off x="713232" y="274320"/>
            <a:ext cx="7955280" cy="502920"/>
          </a:xfrm>
          <a:prstGeom prst="rect">
            <a:avLst/>
          </a:prstGeom>
          <a:noFill/>
          <a:ln/>
        </p:spPr>
        <p:txBody>
          <a:bodyPr wrap="square" lIns="0" tIns="0" rIns="0" bIns="0" rtlCol="0" anchor="ctr"/>
          <a:lstStyle/>
          <a:p>
            <a:pPr marL="0" indent="0">
              <a:buNone/>
            </a:pPr>
            <a:r>
              <a:rPr lang="en-US" sz="2900" b="1" dirty="0">
                <a:solidFill>
                  <a:srgbClr val="23262B"/>
                </a:solidFill>
                <a:latin typeface="Cambria" pitchFamily="34" charset="0"/>
                <a:ea typeface="Cambria" pitchFamily="34" charset="-122"/>
                <a:cs typeface="Cambria" pitchFamily="34" charset="-120"/>
              </a:rPr>
              <a:t>Appendix · Raw Relational Sources</a:t>
            </a:r>
            <a:endParaRPr lang="en-US" sz="2900" dirty="0"/>
          </a:p>
        </p:txBody>
      </p:sp>
      <p:sp>
        <p:nvSpPr>
          <p:cNvPr id="4" name="Text 2"/>
          <p:cNvSpPr/>
          <p:nvPr/>
        </p:nvSpPr>
        <p:spPr>
          <a:xfrm>
            <a:off x="713232" y="749808"/>
            <a:ext cx="7315200" cy="201168"/>
          </a:xfrm>
          <a:prstGeom prst="rect">
            <a:avLst/>
          </a:prstGeom>
          <a:noFill/>
          <a:ln/>
        </p:spPr>
        <p:txBody>
          <a:bodyPr wrap="square" lIns="0" tIns="0" rIns="0" bIns="0" rtlCol="0" anchor="ctr"/>
          <a:lstStyle/>
          <a:p>
            <a:pPr marL="0" indent="0">
              <a:buNone/>
            </a:pPr>
            <a:r>
              <a:rPr lang="en-US" sz="950" b="1" kern="0" spc="200" dirty="0">
                <a:solidFill>
                  <a:srgbClr val="C8102E"/>
                </a:solidFill>
                <a:latin typeface="Calibri" pitchFamily="34" charset="0"/>
                <a:ea typeface="Calibri" pitchFamily="34" charset="-122"/>
                <a:cs typeface="Calibri" pitchFamily="34" charset="-120"/>
              </a:rPr>
              <a:t>BACKUP</a:t>
            </a:r>
            <a:endParaRPr lang="en-US" sz="950" dirty="0"/>
          </a:p>
        </p:txBody>
      </p:sp>
      <p:sp>
        <p:nvSpPr>
          <p:cNvPr id="5" name="Shape 3"/>
          <p:cNvSpPr/>
          <p:nvPr/>
        </p:nvSpPr>
        <p:spPr>
          <a:xfrm>
            <a:off x="1871548" y="1088136"/>
            <a:ext cx="5400904" cy="3355848"/>
          </a:xfrm>
          <a:prstGeom prst="rect">
            <a:avLst/>
          </a:prstGeom>
          <a:solidFill>
            <a:srgbClr val="FFFFFF"/>
          </a:solidFill>
          <a:ln w="12700">
            <a:solidFill>
              <a:srgbClr val="DDE0E4"/>
            </a:solidFill>
            <a:prstDash val="solid"/>
          </a:ln>
          <a:effectLst>
            <a:outerShdw blurRad="114300" dist="38100" dir="5400000" algn="bl" rotWithShape="0">
              <a:srgbClr val="000000">
                <a:alpha val="18000"/>
              </a:srgbClr>
            </a:outerShdw>
          </a:effectLst>
        </p:spPr>
        <p:txBody>
          <a:bodyPr/>
          <a:lstStyle/>
          <a:p>
            <a:endParaRPr lang="en-GB"/>
          </a:p>
        </p:txBody>
      </p:sp>
      <p:pic>
        <p:nvPicPr>
          <p:cNvPr id="6" name="Image 0" descr="img/relational.png"/>
          <p:cNvPicPr>
            <a:picLocks noChangeAspect="1"/>
          </p:cNvPicPr>
          <p:nvPr/>
        </p:nvPicPr>
        <p:blipFill>
          <a:blip r:embed="rId3"/>
          <a:stretch>
            <a:fillRect/>
          </a:stretch>
        </p:blipFill>
        <p:spPr>
          <a:xfrm>
            <a:off x="1926412" y="1143000"/>
            <a:ext cx="5291176" cy="3246120"/>
          </a:xfrm>
          <a:prstGeom prst="rect">
            <a:avLst/>
          </a:prstGeom>
        </p:spPr>
      </p:pic>
      <p:sp>
        <p:nvSpPr>
          <p:cNvPr id="7" name="Text 4"/>
          <p:cNvSpPr/>
          <p:nvPr/>
        </p:nvSpPr>
        <p:spPr>
          <a:xfrm>
            <a:off x="713232" y="4526280"/>
            <a:ext cx="7955280" cy="320040"/>
          </a:xfrm>
          <a:prstGeom prst="rect">
            <a:avLst/>
          </a:prstGeom>
          <a:noFill/>
          <a:ln/>
        </p:spPr>
        <p:txBody>
          <a:bodyPr wrap="square" lIns="0" tIns="0" rIns="0" bIns="0" rtlCol="0" anchor="ctr"/>
          <a:lstStyle/>
          <a:p>
            <a:pPr marL="0" indent="0" algn="ctr">
              <a:buNone/>
            </a:pPr>
            <a:r>
              <a:rPr lang="en-US" sz="1100" i="1" dirty="0">
                <a:solidFill>
                  <a:srgbClr val="6E767E"/>
                </a:solidFill>
                <a:latin typeface="Calibri" pitchFamily="34" charset="0"/>
                <a:ea typeface="Calibri" pitchFamily="34" charset="-122"/>
                <a:cs typeface="Calibri" pitchFamily="34" charset="-120"/>
              </a:rPr>
              <a:t>The raw FBref, FIFA and Transfermarkt tables, cleaned and modelled into the galaxy schema by four Python scripts.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351</TotalTime>
  <Words>2079</Words>
  <Application>Microsoft Office PowerPoint</Application>
  <PresentationFormat>On-screen Show (16:9)</PresentationFormat>
  <Paragraphs>162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Brentford FC Head of Recruitment Dashboard</dc:title>
  <dc:subject>PptxGenJS Presentation</dc:subject>
  <dc:creator>Gerry O'Brien</dc:creator>
  <cp:lastModifiedBy>Gerard O’Brien</cp:lastModifiedBy>
  <cp:revision>1</cp:revision>
  <dcterms:created xsi:type="dcterms:W3CDTF">2026-06-18T09:27:57Z</dcterms:created>
  <dcterms:modified xsi:type="dcterms:W3CDTF">2026-06-18T15:23:53Z</dcterms:modified>
</cp:coreProperties>
</file>